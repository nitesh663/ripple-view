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1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45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(0:00–0:45)
Open strong. Don't introduce the tool yet — introduce the pain.
"Every sprint, at least one shared UI component ships with a change that silently breaks something. The teams using that component don't find out until their users do — or until QA runs manual checks hours later. RippleView ends that. Automatically."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(continues 0:00–0:45)
"These aren't hypotheticals — they're in our Jira backlog right now. Three tickets. One hundred and sixty-five engineering hours. All caused by silent regressions from library upgrades. PAOS-281163 is the most painful: a spacebar stops working in every dropdown — an accessibility regression in the shared controls library that users found before QA did. 22 hours to trace, reproduce, and fix something that should have been caught in 2 minutes."
LOOK AT LINA when you say 'users found before QA did' — that one stings for a QA lead.
PAUSE. Let 165 hours land before moving to the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(0:45–1:15)
"RippleView plugs directly into the library release process. When a component update is ready to ship, RippleView runs in the background — checks every app that depends on that component — and gives the library team a verdict in under 2 minutes. Not a wall of error logs. A plain-English impact report: safe to ship, or here's exactly what will break and where."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(1:15–2:30) — LIVE DEMO HAPPENS HERE
"Let me show you the actual tool running."
[Run: rv run against playground-ng15 live]
Walk through each step as it executes:
1. "Here's the component update that just shipped."
2. "RippleView automatically finds every app using this component."
3. "It's now running targeted validations — watch the output."
4. "Under 2 minutes. Here's the verdict."
Point at the results table. Read one line aloud. Keep it simple.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(2:30–3:30) — THE WOW MOMENT
This is the slide where judges lean forward. Slow down here.
"Here's the thing. Every CI tool can tell you a test failed. That's not intelligence — that's a red light.
What RippleView does differently is that Claude doesn't just report failures. It looks at the code change, understands the dependency chain, and tells you which specific apps will break, which feature inside that app, and why — because it traces the interface through to where it's actually used.
No static analysis tool does this. No rule engine does this. This is Claude making a judgment call that an engineer would have spent an hour making."
Point at the right side. Read the Claude output aloud slowly. Let it land.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(3:30–4:30)
"So what actually changes when RippleView is in the pipeline?
The 2-to-4 hours your teams spend debugging silent breakages — gone.
The 3 to 5 teams that get blocked every time — never blocked again, because the problem is stopped upstream.
The QA team that manually re-tests every library release — automated.
This isn't a tool for engineers. It's infrastructure for releasing confidently. It's the difference between selling a library upgrade as a risk and selling it as a guarantee."
LOOK AT YAEL when you say 'selling it as a guarantee.'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(2:00–2:30 — during live demo)
"These are real results from a run that happened during this hackathon. Not a mock. Not a screenshot. The tool actually ran against a live Angular 15 app and validated 8 scenarios — including tests inherited from the shared component library — in under 2 minutes."
Point at the 'Library import' rows. "These came from the shared library. The consuming app didn't write these tests — it just declared which component it uses, and the tests ran automatically."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(3:30–4:30 — The After)
"The impact isn't technical. It's business.
For sales — you can now guarantee a library upgrade won't break a client's app. That's a competitive differentiator.
For operations — one command replaces a manual coordination process that currently blocks multiple teams every release.
For QA — test coverage is inherited automatically. When a new app starts using a component, it gets the full test suite without writing a single 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(4:30–5:00)
"We built the core in one hackathon sprint. It's running live today.
Sprint 1 adds the dashboard — so ops teams can see release health at a glance without reading a terminal.
The long-term vision: a SaaS layer where every team at Operative gets regression coverage for every library release, automatically. No setup. No manual QA. Just a green light that means: safe to ship."
End with confidence. Don't trail off.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say this looking at the camera, not the slides:
"RippleView is running against a live app right now. Not a concept. Not a prototype. Working code that prevented a silent breaking change during this hackathon.
Every library team at Operative ships with a question mark today. We're here to turn that into a green light."
STOP. Don't add anything. Let the silence hold.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3"/>
        </a:solidFill>
        <a:effectLst/>
      </p:bgPr>
    </p:bg>
    <p:spTree>
      <p:nvGrpSpPr>
        <p:cNvPr id="1" name=""/>
        <p:cNvGrpSpPr/>
        <p:nvPr/>
      </p:nvGrpSpPr>
      <p:grpSpPr>
        <a:xfrm>
          <a:off x="0" y="0"/>
          <a:ext cx="0" cy="0"/>
          <a:chOff x="0" y="0"/>
          <a:chExt cx="0" cy="0"/>
        </a:xfrm>
      </p:grpSpPr>
      <p:sp>
        <p:nvSpPr>
          <p:cNvPr id="2" name="Shape 0"/>
          <p:cNvSpPr/>
          <p:nvPr/>
        </p:nvSpPr>
        <p:spPr>
          <a:xfrm>
            <a:off x="7132320" y="2743200"/>
            <a:ext cx="2926080" cy="2926080"/>
          </a:xfrm>
          <a:prstGeom prst="ellipse">
            <a:avLst/>
          </a:prstGeom>
          <a:solidFill>
            <a:srgbClr val="028090">
              <a:alpha val="16000"/>
            </a:srgbClr>
          </a:solidFill>
          <a:ln w="12700">
            <a:solidFill>
              <a:srgbClr val="028090">
                <a:alpha val="16000"/>
              </a:srgbClr>
            </a:solidFill>
            <a:prstDash val="solid"/>
          </a:ln>
        </p:spPr>
        <p:txBody>
          <a:bodyPr/>
          <a:lstStyle/>
          <a:p>
            <a:endParaRPr lang="en-IN"/>
          </a:p>
        </p:txBody>
      </p:sp>
      <p:sp>
        <p:nvSpPr>
          <p:cNvPr id="3" name="Shape 1"/>
          <p:cNvSpPr/>
          <p:nvPr/>
        </p:nvSpPr>
        <p:spPr>
          <a:xfrm>
            <a:off x="457200" y="457200"/>
            <a:ext cx="1463040" cy="347472"/>
          </a:xfrm>
          <a:prstGeom prst="roundRect">
            <a:avLst>
              <a:gd name="adj" fmla="val 21053"/>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457200" y="457200"/>
            <a:ext cx="1463040" cy="347472"/>
          </a:xfrm>
          <a:prstGeom prst="rect">
            <a:avLst/>
          </a:prstGeom>
          <a:noFill/>
          <a:ln/>
        </p:spPr>
        <p:txBody>
          <a:bodyPr wrap="square" lIns="0" tIns="0" rIns="0" bIns="0" rtlCol="0" anchor="ctr"/>
          <a:lstStyle/>
          <a:p>
            <a:pPr marL="0" indent="0" algn="ctr">
              <a:buNone/>
            </a:pPr>
            <a:r>
              <a:rPr lang="en-US" sz="850" b="1" dirty="0">
                <a:solidFill>
                  <a:srgbClr val="FFFFFF"/>
                </a:solidFill>
              </a:rPr>
              <a:t>Ripple-View</a:t>
            </a:r>
            <a:endParaRPr lang="en-US" sz="850" dirty="0"/>
          </a:p>
        </p:txBody>
      </p:sp>
      <p:sp>
        <p:nvSpPr>
          <p:cNvPr id="5" name="Text 3"/>
          <p:cNvSpPr/>
          <p:nvPr/>
        </p:nvSpPr>
        <p:spPr>
          <a:xfrm>
            <a:off x="457200" y="960120"/>
            <a:ext cx="7772400" cy="960120"/>
          </a:xfrm>
          <a:prstGeom prst="rect">
            <a:avLst/>
          </a:prstGeom>
          <a:noFill/>
          <a:ln/>
        </p:spPr>
        <p:txBody>
          <a:bodyPr wrap="square" lIns="0" tIns="0" rIns="0" bIns="0" rtlCol="0" anchor="ctr"/>
          <a:lstStyle/>
          <a:p>
            <a:pPr marL="0" indent="0" algn="l">
              <a:buNone/>
            </a:pPr>
            <a:r>
              <a:rPr lang="en-US" sz="6800" b="1" dirty="0">
                <a:solidFill>
                  <a:srgbClr val="FFFFFF"/>
                </a:solidFill>
                <a:latin typeface="Calibri" pitchFamily="34" charset="0"/>
                <a:ea typeface="Calibri" pitchFamily="34" charset="-122"/>
                <a:cs typeface="Calibri" pitchFamily="34" charset="-120"/>
              </a:rPr>
              <a:t>RippleView</a:t>
            </a:r>
            <a:endParaRPr lang="en-US" sz="6800" dirty="0"/>
          </a:p>
        </p:txBody>
      </p:sp>
      <p:sp>
        <p:nvSpPr>
          <p:cNvPr id="6" name="Text 4"/>
          <p:cNvSpPr/>
          <p:nvPr/>
        </p:nvSpPr>
        <p:spPr>
          <a:xfrm>
            <a:off x="457200" y="1828800"/>
            <a:ext cx="7772400" cy="914400"/>
          </a:xfrm>
          <a:prstGeom prst="rect">
            <a:avLst/>
          </a:prstGeom>
          <a:noFill/>
          <a:ln/>
        </p:spPr>
        <p:txBody>
          <a:bodyPr wrap="square" lIns="0" tIns="0" rIns="0" bIns="0" rtlCol="0" anchor="ctr"/>
          <a:lstStyle/>
          <a:p>
            <a:pPr marL="0" indent="0" algn="l">
              <a:buNone/>
            </a:pPr>
            <a:r>
              <a:rPr lang="en-US" sz="6800" b="1" dirty="0">
                <a:solidFill>
                  <a:srgbClr val="00A896"/>
                </a:solidFill>
                <a:latin typeface="Calibri" pitchFamily="34" charset="0"/>
                <a:ea typeface="Calibri" pitchFamily="34" charset="-122"/>
                <a:cs typeface="Calibri" pitchFamily="34" charset="-120"/>
              </a:rPr>
              <a:t>Framework</a:t>
            </a:r>
            <a:endParaRPr lang="en-US" sz="6800" dirty="0"/>
          </a:p>
        </p:txBody>
      </p:sp>
      <p:sp>
        <p:nvSpPr>
          <p:cNvPr id="7" name="Shape 5"/>
          <p:cNvSpPr/>
          <p:nvPr/>
        </p:nvSpPr>
        <p:spPr>
          <a:xfrm>
            <a:off x="457200" y="2807208"/>
            <a:ext cx="3200400" cy="36576"/>
          </a:xfrm>
          <a:prstGeom prst="rect">
            <a:avLst/>
          </a:prstGeom>
          <a:solidFill>
            <a:srgbClr val="02C39A"/>
          </a:solidFill>
          <a:ln w="12700">
            <a:solidFill>
              <a:srgbClr val="02C39A"/>
            </a:solidFill>
            <a:prstDash val="solid"/>
          </a:ln>
        </p:spPr>
        <p:txBody>
          <a:bodyPr/>
          <a:lstStyle/>
          <a:p>
            <a:endParaRPr lang="en-IN"/>
          </a:p>
        </p:txBody>
      </p:sp>
      <p:sp>
        <p:nvSpPr>
          <p:cNvPr id="8" name="Text 6"/>
          <p:cNvSpPr/>
          <p:nvPr/>
        </p:nvSpPr>
        <p:spPr>
          <a:xfrm>
            <a:off x="457200" y="2926080"/>
            <a:ext cx="6583680" cy="457200"/>
          </a:xfrm>
          <a:prstGeom prst="rect">
            <a:avLst/>
          </a:prstGeom>
          <a:noFill/>
          <a:ln/>
        </p:spPr>
        <p:txBody>
          <a:bodyPr wrap="square" lIns="0" tIns="0" rIns="0" bIns="0" rtlCol="0" anchor="ctr"/>
          <a:lstStyle/>
          <a:p>
            <a:pPr marL="0" indent="0" algn="l">
              <a:buNone/>
            </a:pPr>
            <a:r>
              <a:rPr lang="en-US" sz="1500" dirty="0">
                <a:solidFill>
                  <a:srgbClr val="A8D8DF"/>
                </a:solidFill>
                <a:latin typeface="Calibri" pitchFamily="34" charset="0"/>
                <a:ea typeface="Calibri" pitchFamily="34" charset="-122"/>
                <a:cs typeface="Calibri" pitchFamily="34" charset="-120"/>
              </a:rPr>
              <a:t>Deliver Faster. Test Smarter. Release with Confidence.</a:t>
            </a:r>
            <a:endParaRPr lang="en-US" sz="1500" dirty="0"/>
          </a:p>
        </p:txBody>
      </p:sp>
      <p:sp>
        <p:nvSpPr>
          <p:cNvPr id="9" name="Shape 7"/>
          <p:cNvSpPr/>
          <p:nvPr/>
        </p:nvSpPr>
        <p:spPr>
          <a:xfrm>
            <a:off x="457200" y="3520440"/>
            <a:ext cx="4572000" cy="365760"/>
          </a:xfrm>
          <a:prstGeom prst="roundRect">
            <a:avLst>
              <a:gd name="adj" fmla="val 50000"/>
            </a:avLst>
          </a:prstGeom>
          <a:solidFill>
            <a:srgbClr val="028090">
              <a:alpha val="25000"/>
            </a:srgbClr>
          </a:solidFill>
          <a:ln w="12700">
            <a:solidFill>
              <a:srgbClr val="00A896">
                <a:alpha val="65000"/>
              </a:srgbClr>
            </a:solidFill>
            <a:prstDash val="solid"/>
          </a:ln>
        </p:spPr>
        <p:txBody>
          <a:bodyPr/>
          <a:lstStyle/>
          <a:p>
            <a:endParaRPr lang="en-IN"/>
          </a:p>
        </p:txBody>
      </p:sp>
      <p:sp>
        <p:nvSpPr>
          <p:cNvPr id="10" name="Text 8"/>
          <p:cNvSpPr/>
          <p:nvPr/>
        </p:nvSpPr>
        <p:spPr>
          <a:xfrm>
            <a:off x="457200" y="3520440"/>
            <a:ext cx="457200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Silent breaking changes caught before they ship</a:t>
            </a:r>
            <a:endParaRPr lang="en-US" sz="1200" dirty="0"/>
          </a:p>
        </p:txBody>
      </p:sp>
      <p:sp>
        <p:nvSpPr>
          <p:cNvPr id="11" name="Shape 9"/>
          <p:cNvSpPr/>
          <p:nvPr/>
        </p:nvSpPr>
        <p:spPr>
          <a:xfrm>
            <a:off x="457200" y="3995928"/>
            <a:ext cx="4572000" cy="365760"/>
          </a:xfrm>
          <a:prstGeom prst="roundRect">
            <a:avLst>
              <a:gd name="adj" fmla="val 50000"/>
            </a:avLst>
          </a:prstGeom>
          <a:solidFill>
            <a:srgbClr val="028090">
              <a:alpha val="25000"/>
            </a:srgbClr>
          </a:solidFill>
          <a:ln w="12700">
            <a:solidFill>
              <a:srgbClr val="00A896">
                <a:alpha val="65000"/>
              </a:srgbClr>
            </a:solidFill>
            <a:prstDash val="solid"/>
          </a:ln>
        </p:spPr>
        <p:txBody>
          <a:bodyPr/>
          <a:lstStyle/>
          <a:p>
            <a:endParaRPr lang="en-IN"/>
          </a:p>
        </p:txBody>
      </p:sp>
      <p:sp>
        <p:nvSpPr>
          <p:cNvPr id="12" name="Text 10"/>
          <p:cNvSpPr/>
          <p:nvPr/>
        </p:nvSpPr>
        <p:spPr>
          <a:xfrm>
            <a:off x="457200" y="3995928"/>
            <a:ext cx="457200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165 hrs lost across 3 real Jira tickets — catchable in 2 min</a:t>
            </a:r>
            <a:endParaRPr lang="en-US" sz="1200" dirty="0"/>
          </a:p>
        </p:txBody>
      </p:sp>
      <p:sp>
        <p:nvSpPr>
          <p:cNvPr id="13" name="Shape 11"/>
          <p:cNvSpPr/>
          <p:nvPr/>
        </p:nvSpPr>
        <p:spPr>
          <a:xfrm>
            <a:off x="457200" y="4471416"/>
            <a:ext cx="4572000" cy="365760"/>
          </a:xfrm>
          <a:prstGeom prst="roundRect">
            <a:avLst>
              <a:gd name="adj" fmla="val 50000"/>
            </a:avLst>
          </a:prstGeom>
          <a:solidFill>
            <a:srgbClr val="028090">
              <a:alpha val="25000"/>
            </a:srgbClr>
          </a:solidFill>
          <a:ln w="12700">
            <a:solidFill>
              <a:srgbClr val="00A896">
                <a:alpha val="65000"/>
              </a:srgbClr>
            </a:solidFill>
            <a:prstDash val="solid"/>
          </a:ln>
        </p:spPr>
        <p:txBody>
          <a:bodyPr/>
          <a:lstStyle/>
          <a:p>
            <a:endParaRPr lang="en-IN"/>
          </a:p>
        </p:txBody>
      </p:sp>
      <p:sp>
        <p:nvSpPr>
          <p:cNvPr id="14" name="Text 12"/>
          <p:cNvSpPr/>
          <p:nvPr/>
        </p:nvSpPr>
        <p:spPr>
          <a:xfrm>
            <a:off x="457200" y="4471416"/>
            <a:ext cx="457200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No QA bottleneck, no blocked sprints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lIns="0" tIns="0" rIns="0" bIns="0" rtlCol="0" anchor="ctr"/>
          <a:lstStyle/>
          <a:p>
            <a:pPr marL="0" indent="0" algn="l">
              <a:buNone/>
            </a:pPr>
            <a:r>
              <a:rPr lang="en-US" sz="2800" b="1" dirty="0">
                <a:solidFill>
                  <a:srgbClr val="1A2E35"/>
                </a:solidFill>
                <a:latin typeface="Calibri" pitchFamily="34" charset="0"/>
                <a:ea typeface="Calibri" pitchFamily="34" charset="-122"/>
                <a:cs typeface="Calibri" pitchFamily="34" charset="-120"/>
              </a:rPr>
              <a:t>The Problem Costs Real Hours. Every Sprint.</a:t>
            </a:r>
            <a:endParaRPr lang="en-US" sz="2800" dirty="0"/>
          </a:p>
        </p:txBody>
      </p:sp>
      <p:sp>
        <p:nvSpPr>
          <p:cNvPr id="3" name="Shape 1"/>
          <p:cNvSpPr/>
          <p:nvPr/>
        </p:nvSpPr>
        <p:spPr>
          <a:xfrm>
            <a:off x="457200" y="822960"/>
            <a:ext cx="8229600" cy="27432"/>
          </a:xfrm>
          <a:prstGeom prst="rect">
            <a:avLst/>
          </a:prstGeom>
          <a:solidFill>
            <a:srgbClr val="E05C2A"/>
          </a:solidFill>
          <a:ln w="12700">
            <a:solidFill>
              <a:srgbClr val="E05C2A"/>
            </a:solidFill>
            <a:prstDash val="solid"/>
          </a:ln>
        </p:spPr>
        <p:txBody>
          <a:bodyPr/>
          <a:lstStyle/>
          <a:p>
            <a:endParaRPr lang="en-IN"/>
          </a:p>
        </p:txBody>
      </p:sp>
      <p:sp>
        <p:nvSpPr>
          <p:cNvPr id="4" name="Shape 2"/>
          <p:cNvSpPr/>
          <p:nvPr/>
        </p:nvSpPr>
        <p:spPr>
          <a:xfrm>
            <a:off x="365760" y="1005840"/>
            <a:ext cx="2560320" cy="3520440"/>
          </a:xfrm>
          <a:prstGeom prst="roundRect">
            <a:avLst>
              <a:gd name="adj" fmla="val 5000"/>
            </a:avLst>
          </a:prstGeom>
          <a:solidFill>
            <a:srgbClr val="FFF3EE"/>
          </a:solidFill>
          <a:ln w="19050">
            <a:solidFill>
              <a:srgbClr val="F5C6AF"/>
            </a:solidFill>
            <a:prstDash val="solid"/>
          </a:ln>
          <a:effectLst>
            <a:outerShdw blurRad="101600" dist="38100" dir="2700000" algn="bl" rotWithShape="0">
              <a:srgbClr val="000000">
                <a:alpha val="12000"/>
              </a:srgbClr>
            </a:outerShdw>
          </a:effectLst>
        </p:spPr>
        <p:txBody>
          <a:bodyPr/>
          <a:lstStyle/>
          <a:p>
            <a:endParaRPr lang="en-IN"/>
          </a:p>
        </p:txBody>
      </p:sp>
      <p:pic>
        <p:nvPicPr>
          <p:cNvPr id="5" name="Image 0" descr="preencoded.png"/>
          <p:cNvPicPr>
            <a:picLocks noChangeAspect="1"/>
          </p:cNvPicPr>
          <p:nvPr/>
        </p:nvPicPr>
        <p:blipFill>
          <a:blip r:embed="rId3"/>
          <a:stretch>
            <a:fillRect/>
          </a:stretch>
        </p:blipFill>
        <p:spPr>
          <a:xfrm>
            <a:off x="1371600" y="1188720"/>
            <a:ext cx="658368" cy="658368"/>
          </a:xfrm>
          <a:prstGeom prst="rect">
            <a:avLst/>
          </a:prstGeom>
        </p:spPr>
      </p:pic>
      <p:sp>
        <p:nvSpPr>
          <p:cNvPr id="6" name="Text 3"/>
          <p:cNvSpPr/>
          <p:nvPr/>
        </p:nvSpPr>
        <p:spPr>
          <a:xfrm>
            <a:off x="365760" y="1874520"/>
            <a:ext cx="2560320" cy="868680"/>
          </a:xfrm>
          <a:prstGeom prst="rect">
            <a:avLst/>
          </a:prstGeom>
          <a:noFill/>
          <a:ln/>
        </p:spPr>
        <p:txBody>
          <a:bodyPr wrap="square" lIns="0" tIns="0" rIns="0" bIns="0" rtlCol="0" anchor="ctr"/>
          <a:lstStyle/>
          <a:p>
            <a:pPr marL="0" indent="0" algn="ctr">
              <a:buNone/>
            </a:pPr>
            <a:r>
              <a:rPr lang="en-US" sz="7200" b="1" dirty="0">
                <a:solidFill>
                  <a:srgbClr val="E05C2A"/>
                </a:solidFill>
                <a:latin typeface="Calibri" pitchFamily="34" charset="0"/>
                <a:ea typeface="Calibri" pitchFamily="34" charset="-122"/>
                <a:cs typeface="Calibri" pitchFamily="34" charset="-120"/>
              </a:rPr>
              <a:t>165</a:t>
            </a:r>
            <a:endParaRPr lang="en-US" sz="7200" dirty="0"/>
          </a:p>
        </p:txBody>
      </p:sp>
      <p:sp>
        <p:nvSpPr>
          <p:cNvPr id="7" name="Text 4"/>
          <p:cNvSpPr/>
          <p:nvPr/>
        </p:nvSpPr>
        <p:spPr>
          <a:xfrm>
            <a:off x="365760" y="2724912"/>
            <a:ext cx="2560320" cy="475488"/>
          </a:xfrm>
          <a:prstGeom prst="rect">
            <a:avLst/>
          </a:prstGeom>
          <a:noFill/>
          <a:ln/>
        </p:spPr>
        <p:txBody>
          <a:bodyPr wrap="square" lIns="0" tIns="0" rIns="0" bIns="0" rtlCol="0" anchor="ctr"/>
          <a:lstStyle/>
          <a:p>
            <a:pPr marL="0" indent="0" algn="ctr">
              <a:buNone/>
            </a:pPr>
            <a:r>
              <a:rPr lang="en-US" sz="1300" b="1" dirty="0">
                <a:solidFill>
                  <a:srgbClr val="1A2E35"/>
                </a:solidFill>
                <a:latin typeface="Calibri" pitchFamily="34" charset="0"/>
                <a:ea typeface="Calibri" pitchFamily="34" charset="-122"/>
                <a:cs typeface="Calibri" pitchFamily="34" charset="-120"/>
              </a:rPr>
              <a:t>hours lost</a:t>
            </a:r>
            <a:endParaRPr lang="en-US" sz="1300" dirty="0"/>
          </a:p>
          <a:p>
            <a:pPr marL="0" indent="0" algn="ctr">
              <a:buNone/>
            </a:pPr>
            <a:r>
              <a:rPr lang="en-US" sz="1300" b="1" dirty="0">
                <a:solidFill>
                  <a:srgbClr val="1A2E35"/>
                </a:solidFill>
                <a:latin typeface="Calibri" pitchFamily="34" charset="0"/>
                <a:ea typeface="Calibri" pitchFamily="34" charset="-122"/>
                <a:cs typeface="Calibri" pitchFamily="34" charset="-120"/>
              </a:rPr>
              <a:t>across 3 real tickets</a:t>
            </a:r>
            <a:endParaRPr lang="en-US" sz="1300" dirty="0"/>
          </a:p>
        </p:txBody>
      </p:sp>
      <p:sp>
        <p:nvSpPr>
          <p:cNvPr id="8" name="Text 5"/>
          <p:cNvSpPr/>
          <p:nvPr/>
        </p:nvSpPr>
        <p:spPr>
          <a:xfrm>
            <a:off x="365760" y="3246120"/>
            <a:ext cx="2560320" cy="548640"/>
          </a:xfrm>
          <a:prstGeom prst="rect">
            <a:avLst/>
          </a:prstGeom>
          <a:noFill/>
          <a:ln/>
        </p:spPr>
        <p:txBody>
          <a:bodyPr wrap="square" rtlCol="0" anchor="ctr"/>
          <a:lstStyle/>
          <a:p>
            <a:pPr marL="0" indent="0" algn="ctr">
              <a:buNone/>
            </a:pPr>
            <a:r>
              <a:rPr lang="en-US" sz="950" dirty="0">
                <a:solidFill>
                  <a:srgbClr val="5A7A82"/>
                </a:solidFill>
                <a:latin typeface="Calibri" pitchFamily="34" charset="0"/>
                <a:ea typeface="Calibri" pitchFamily="34" charset="-122"/>
                <a:cs typeface="Calibri" pitchFamily="34" charset="-120"/>
              </a:rPr>
              <a:t>Tracked in Jira — this quarter alone.</a:t>
            </a:r>
            <a:endParaRPr lang="en-US" sz="950" dirty="0"/>
          </a:p>
          <a:p>
            <a:pPr marL="0" indent="0" algn="ctr">
              <a:buNone/>
            </a:pPr>
            <a:r>
              <a:rPr lang="en-US" sz="950" dirty="0">
                <a:solidFill>
                  <a:srgbClr val="5A7A82"/>
                </a:solidFill>
                <a:latin typeface="Calibri" pitchFamily="34" charset="0"/>
                <a:ea typeface="Calibri" pitchFamily="34" charset="-122"/>
                <a:cs typeface="Calibri" pitchFamily="34" charset="-120"/>
              </a:rPr>
              <a:t>Silent lib upgrade regressions.</a:t>
            </a:r>
            <a:endParaRPr lang="en-US" sz="950" dirty="0"/>
          </a:p>
        </p:txBody>
      </p:sp>
      <p:pic>
        <p:nvPicPr>
          <p:cNvPr id="9" name="Image 1" descr="C:/Users/nitesh.ks/Downloads/rv-before-after.png"/>
          <p:cNvPicPr>
            <a:picLocks noChangeAspect="1"/>
          </p:cNvPicPr>
          <p:nvPr/>
        </p:nvPicPr>
        <p:blipFill>
          <a:blip r:embed="rId4"/>
          <a:stretch>
            <a:fillRect/>
          </a:stretch>
        </p:blipFill>
        <p:spPr>
          <a:xfrm>
            <a:off x="3017520" y="914400"/>
            <a:ext cx="5623560" cy="3794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33"/>
        </a:solidFill>
        <a:effectLst/>
      </p:bgPr>
    </p:bg>
    <p:spTree>
      <p:nvGrpSpPr>
        <p:cNvPr id="1" name=""/>
        <p:cNvGrpSpPr/>
        <p:nvPr/>
      </p:nvGrpSpPr>
      <p:grpSpPr>
        <a:xfrm>
          <a:off x="0" y="0"/>
          <a:ext cx="0" cy="0"/>
          <a:chOff x="0" y="0"/>
          <a:chExt cx="0" cy="0"/>
        </a:xfrm>
      </p:grpSpPr>
      <p:sp>
        <p:nvSpPr>
          <p:cNvPr id="2" name="Shape 0"/>
          <p:cNvSpPr/>
          <p:nvPr/>
        </p:nvSpPr>
        <p:spPr>
          <a:xfrm>
            <a:off x="6858000" y="2926080"/>
            <a:ext cx="2926080" cy="2926080"/>
          </a:xfrm>
          <a:prstGeom prst="ellipse">
            <a:avLst/>
          </a:prstGeom>
          <a:solidFill>
            <a:srgbClr val="028090">
              <a:alpha val="15000"/>
            </a:srgbClr>
          </a:solidFill>
          <a:ln w="12700">
            <a:solidFill>
              <a:srgbClr val="028090">
                <a:alpha val="15000"/>
              </a:srgbClr>
            </a:solidFill>
            <a:prstDash val="solid"/>
          </a:ln>
        </p:spPr>
        <p:txBody>
          <a:bodyPr/>
          <a:lstStyle/>
          <a:p>
            <a:endParaRPr lang="en-IN"/>
          </a:p>
        </p:txBody>
      </p:sp>
      <p:sp>
        <p:nvSpPr>
          <p:cNvPr id="3" name="Text 1"/>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RippleView Catches It First.</a:t>
            </a:r>
            <a:endParaRPr lang="en-US" sz="3600" dirty="0"/>
          </a:p>
        </p:txBody>
      </p:sp>
      <p:sp>
        <p:nvSpPr>
          <p:cNvPr id="4" name="Text 2"/>
          <p:cNvSpPr/>
          <p:nvPr/>
        </p:nvSpPr>
        <p:spPr>
          <a:xfrm>
            <a:off x="457200" y="804672"/>
            <a:ext cx="8229600" cy="329184"/>
          </a:xfrm>
          <a:prstGeom prst="rect">
            <a:avLst/>
          </a:prstGeom>
          <a:noFill/>
          <a:ln/>
        </p:spPr>
        <p:txBody>
          <a:bodyPr wrap="square" lIns="0" tIns="0" rIns="0" bIns="0" rtlCol="0" anchor="ctr"/>
          <a:lstStyle/>
          <a:p>
            <a:pPr marL="0" indent="0" algn="l">
              <a:buNone/>
            </a:pPr>
            <a:r>
              <a:rPr lang="en-US" sz="1500" dirty="0">
                <a:solidFill>
                  <a:srgbClr val="00A896"/>
                </a:solidFill>
                <a:latin typeface="Calibri" pitchFamily="34" charset="0"/>
                <a:ea typeface="Calibri" pitchFamily="34" charset="-122"/>
                <a:cs typeface="Calibri" pitchFamily="34" charset="-120"/>
              </a:rPr>
              <a:t>Before the library ships. Before anyone is blocked.</a:t>
            </a:r>
            <a:endParaRPr lang="en-US" sz="1500" dirty="0"/>
          </a:p>
        </p:txBody>
      </p:sp>
      <p:sp>
        <p:nvSpPr>
          <p:cNvPr id="5" name="Shape 3"/>
          <p:cNvSpPr/>
          <p:nvPr/>
        </p:nvSpPr>
        <p:spPr>
          <a:xfrm>
            <a:off x="457200" y="1325880"/>
            <a:ext cx="8046720" cy="1024128"/>
          </a:xfrm>
          <a:prstGeom prst="roundRect">
            <a:avLst>
              <a:gd name="adj" fmla="val 8929"/>
            </a:avLst>
          </a:prstGeom>
          <a:solidFill>
            <a:srgbClr val="FFFFFF">
              <a:alpha val="7000"/>
            </a:srgbClr>
          </a:solidFill>
          <a:ln w="19050">
            <a:solidFill>
              <a:srgbClr val="028090">
                <a:alpha val="60000"/>
              </a:srgbClr>
            </a:solidFill>
            <a:prstDash val="solid"/>
          </a:ln>
        </p:spPr>
        <p:txBody>
          <a:bodyPr/>
          <a:lstStyle/>
          <a:p>
            <a:endParaRPr lang="en-IN"/>
          </a:p>
        </p:txBody>
      </p:sp>
      <p:sp>
        <p:nvSpPr>
          <p:cNvPr id="6" name="Shape 4"/>
          <p:cNvSpPr/>
          <p:nvPr/>
        </p:nvSpPr>
        <p:spPr>
          <a:xfrm>
            <a:off x="640080" y="1481328"/>
            <a:ext cx="658368" cy="658368"/>
          </a:xfrm>
          <a:prstGeom prst="ellipse">
            <a:avLst/>
          </a:prstGeom>
          <a:solidFill>
            <a:srgbClr val="028090"/>
          </a:solidFill>
          <a:ln w="12700">
            <a:solidFill>
              <a:srgbClr val="028090"/>
            </a:solidFill>
            <a:prstDash val="solid"/>
          </a:ln>
        </p:spPr>
        <p:txBody>
          <a:bodyPr/>
          <a:lstStyle/>
          <a:p>
            <a:endParaRPr lang="en-IN"/>
          </a:p>
        </p:txBody>
      </p:sp>
      <p:sp>
        <p:nvSpPr>
          <p:cNvPr id="7" name="Text 5"/>
          <p:cNvSpPr/>
          <p:nvPr/>
        </p:nvSpPr>
        <p:spPr>
          <a:xfrm>
            <a:off x="640080" y="1481328"/>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pic>
        <p:nvPicPr>
          <p:cNvPr id="8" name="Image 0" descr="preencoded.png"/>
          <p:cNvPicPr>
            <a:picLocks noChangeAspect="1"/>
          </p:cNvPicPr>
          <p:nvPr/>
        </p:nvPicPr>
        <p:blipFill>
          <a:blip r:embed="rId3"/>
          <a:stretch>
            <a:fillRect/>
          </a:stretch>
        </p:blipFill>
        <p:spPr>
          <a:xfrm>
            <a:off x="1463040" y="1572768"/>
            <a:ext cx="475488" cy="475488"/>
          </a:xfrm>
          <a:prstGeom prst="rect">
            <a:avLst/>
          </a:prstGeom>
        </p:spPr>
      </p:pic>
      <p:sp>
        <p:nvSpPr>
          <p:cNvPr id="9" name="Text 6"/>
          <p:cNvSpPr/>
          <p:nvPr/>
        </p:nvSpPr>
        <p:spPr>
          <a:xfrm>
            <a:off x="2103120" y="1417320"/>
            <a:ext cx="6217920"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Library team ships a component update</a:t>
            </a:r>
            <a:endParaRPr lang="en-US" sz="1350" dirty="0"/>
          </a:p>
        </p:txBody>
      </p:sp>
      <p:sp>
        <p:nvSpPr>
          <p:cNvPr id="10" name="Text 7"/>
          <p:cNvSpPr/>
          <p:nvPr/>
        </p:nvSpPr>
        <p:spPr>
          <a:xfrm>
            <a:off x="2103120" y="1783080"/>
            <a:ext cx="6217920" cy="475488"/>
          </a:xfrm>
          <a:prstGeom prst="rect">
            <a:avLst/>
          </a:prstGeom>
          <a:noFill/>
          <a:ln/>
        </p:spPr>
        <p:txBody>
          <a:bodyPr wrap="square" rtlCol="0" anchor="ctr"/>
          <a:lstStyle/>
          <a:p>
            <a:pPr marL="0" indent="0">
              <a:buNone/>
            </a:pPr>
            <a:r>
              <a:rPr lang="en-US" sz="1100" dirty="0">
                <a:solidFill>
                  <a:srgbClr val="A8D8DF"/>
                </a:solidFill>
                <a:latin typeface="Calibri" pitchFamily="34" charset="0"/>
                <a:ea typeface="Calibri" pitchFamily="34" charset="-122"/>
                <a:cs typeface="Calibri" pitchFamily="34" charset="-120"/>
              </a:rPr>
              <a:t>RippleView automatically validates every app that uses that component — not just the library itself</a:t>
            </a:r>
            <a:endParaRPr lang="en-US" sz="1100" dirty="0"/>
          </a:p>
        </p:txBody>
      </p:sp>
      <p:sp>
        <p:nvSpPr>
          <p:cNvPr id="11" name="Shape 8"/>
          <p:cNvSpPr/>
          <p:nvPr/>
        </p:nvSpPr>
        <p:spPr>
          <a:xfrm>
            <a:off x="457200" y="2496312"/>
            <a:ext cx="8046720" cy="1024128"/>
          </a:xfrm>
          <a:prstGeom prst="roundRect">
            <a:avLst>
              <a:gd name="adj" fmla="val 8929"/>
            </a:avLst>
          </a:prstGeom>
          <a:solidFill>
            <a:srgbClr val="FFFFFF">
              <a:alpha val="7000"/>
            </a:srgbClr>
          </a:solidFill>
          <a:ln w="19050">
            <a:solidFill>
              <a:srgbClr val="00A896">
                <a:alpha val="60000"/>
              </a:srgbClr>
            </a:solidFill>
            <a:prstDash val="solid"/>
          </a:ln>
        </p:spPr>
        <p:txBody>
          <a:bodyPr/>
          <a:lstStyle/>
          <a:p>
            <a:endParaRPr lang="en-IN"/>
          </a:p>
        </p:txBody>
      </p:sp>
      <p:sp>
        <p:nvSpPr>
          <p:cNvPr id="12" name="Shape 9"/>
          <p:cNvSpPr/>
          <p:nvPr/>
        </p:nvSpPr>
        <p:spPr>
          <a:xfrm>
            <a:off x="640080" y="2651760"/>
            <a:ext cx="658368" cy="658368"/>
          </a:xfrm>
          <a:prstGeom prst="ellipse">
            <a:avLst/>
          </a:prstGeom>
          <a:solidFill>
            <a:srgbClr val="00A896"/>
          </a:solidFill>
          <a:ln w="12700">
            <a:solidFill>
              <a:srgbClr val="00A896"/>
            </a:solidFill>
            <a:prstDash val="solid"/>
          </a:ln>
        </p:spPr>
        <p:txBody>
          <a:bodyPr/>
          <a:lstStyle/>
          <a:p>
            <a:endParaRPr lang="en-IN"/>
          </a:p>
        </p:txBody>
      </p:sp>
      <p:sp>
        <p:nvSpPr>
          <p:cNvPr id="13" name="Text 10"/>
          <p:cNvSpPr/>
          <p:nvPr/>
        </p:nvSpPr>
        <p:spPr>
          <a:xfrm>
            <a:off x="640080" y="265176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pic>
        <p:nvPicPr>
          <p:cNvPr id="14" name="Image 1" descr="preencoded.png"/>
          <p:cNvPicPr>
            <a:picLocks noChangeAspect="1"/>
          </p:cNvPicPr>
          <p:nvPr/>
        </p:nvPicPr>
        <p:blipFill>
          <a:blip r:embed="rId4"/>
          <a:stretch>
            <a:fillRect/>
          </a:stretch>
        </p:blipFill>
        <p:spPr>
          <a:xfrm>
            <a:off x="1463040" y="2743200"/>
            <a:ext cx="475488" cy="475488"/>
          </a:xfrm>
          <a:prstGeom prst="rect">
            <a:avLst/>
          </a:prstGeom>
        </p:spPr>
      </p:pic>
      <p:sp>
        <p:nvSpPr>
          <p:cNvPr id="15" name="Text 11"/>
          <p:cNvSpPr/>
          <p:nvPr/>
        </p:nvSpPr>
        <p:spPr>
          <a:xfrm>
            <a:off x="2103120" y="2587752"/>
            <a:ext cx="6217920"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Claude AI reasons about the impact</a:t>
            </a:r>
            <a:endParaRPr lang="en-US" sz="1350" dirty="0"/>
          </a:p>
        </p:txBody>
      </p:sp>
      <p:sp>
        <p:nvSpPr>
          <p:cNvPr id="16" name="Text 12"/>
          <p:cNvSpPr/>
          <p:nvPr/>
        </p:nvSpPr>
        <p:spPr>
          <a:xfrm>
            <a:off x="2103120" y="2953512"/>
            <a:ext cx="6217920" cy="475488"/>
          </a:xfrm>
          <a:prstGeom prst="rect">
            <a:avLst/>
          </a:prstGeom>
          <a:noFill/>
          <a:ln/>
        </p:spPr>
        <p:txBody>
          <a:bodyPr wrap="square" rtlCol="0" anchor="ctr"/>
          <a:lstStyle/>
          <a:p>
            <a:pPr marL="0" indent="0">
              <a:buNone/>
            </a:pPr>
            <a:r>
              <a:rPr lang="en-US" sz="1100" dirty="0">
                <a:solidFill>
                  <a:srgbClr val="A8D8DF"/>
                </a:solidFill>
                <a:latin typeface="Calibri" pitchFamily="34" charset="0"/>
                <a:ea typeface="Calibri" pitchFamily="34" charset="-122"/>
                <a:cs typeface="Calibri" pitchFamily="34" charset="-120"/>
              </a:rPr>
              <a:t>Identifies which specific apps and features will be affected — with an explanation, not just a file list</a:t>
            </a:r>
            <a:endParaRPr lang="en-US" sz="1100" dirty="0"/>
          </a:p>
        </p:txBody>
      </p:sp>
      <p:sp>
        <p:nvSpPr>
          <p:cNvPr id="17" name="Shape 13"/>
          <p:cNvSpPr/>
          <p:nvPr/>
        </p:nvSpPr>
        <p:spPr>
          <a:xfrm>
            <a:off x="457200" y="3666744"/>
            <a:ext cx="8046720" cy="1024128"/>
          </a:xfrm>
          <a:prstGeom prst="roundRect">
            <a:avLst>
              <a:gd name="adj" fmla="val 8929"/>
            </a:avLst>
          </a:prstGeom>
          <a:solidFill>
            <a:srgbClr val="FFFFFF">
              <a:alpha val="7000"/>
            </a:srgbClr>
          </a:solidFill>
          <a:ln w="19050">
            <a:solidFill>
              <a:srgbClr val="02C39A">
                <a:alpha val="60000"/>
              </a:srgbClr>
            </a:solidFill>
            <a:prstDash val="solid"/>
          </a:ln>
        </p:spPr>
        <p:txBody>
          <a:bodyPr/>
          <a:lstStyle/>
          <a:p>
            <a:endParaRPr lang="en-IN"/>
          </a:p>
        </p:txBody>
      </p:sp>
      <p:sp>
        <p:nvSpPr>
          <p:cNvPr id="18" name="Shape 14"/>
          <p:cNvSpPr/>
          <p:nvPr/>
        </p:nvSpPr>
        <p:spPr>
          <a:xfrm>
            <a:off x="640080" y="3822192"/>
            <a:ext cx="658368" cy="658368"/>
          </a:xfrm>
          <a:prstGeom prst="ellipse">
            <a:avLst/>
          </a:prstGeom>
          <a:solidFill>
            <a:srgbClr val="02C39A"/>
          </a:solidFill>
          <a:ln w="12700">
            <a:solidFill>
              <a:srgbClr val="02C39A"/>
            </a:solidFill>
            <a:prstDash val="solid"/>
          </a:ln>
        </p:spPr>
        <p:txBody>
          <a:bodyPr/>
          <a:lstStyle/>
          <a:p>
            <a:endParaRPr lang="en-IN"/>
          </a:p>
        </p:txBody>
      </p:sp>
      <p:sp>
        <p:nvSpPr>
          <p:cNvPr id="19" name="Text 15"/>
          <p:cNvSpPr/>
          <p:nvPr/>
        </p:nvSpPr>
        <p:spPr>
          <a:xfrm>
            <a:off x="640080" y="3822192"/>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pic>
        <p:nvPicPr>
          <p:cNvPr id="20" name="Image 2" descr="preencoded.png"/>
          <p:cNvPicPr>
            <a:picLocks noChangeAspect="1"/>
          </p:cNvPicPr>
          <p:nvPr/>
        </p:nvPicPr>
        <p:blipFill>
          <a:blip r:embed="rId5"/>
          <a:stretch>
            <a:fillRect/>
          </a:stretch>
        </p:blipFill>
        <p:spPr>
          <a:xfrm>
            <a:off x="1463040" y="3913632"/>
            <a:ext cx="475488" cy="475488"/>
          </a:xfrm>
          <a:prstGeom prst="rect">
            <a:avLst/>
          </a:prstGeom>
        </p:spPr>
      </p:pic>
      <p:sp>
        <p:nvSpPr>
          <p:cNvPr id="21" name="Text 16"/>
          <p:cNvSpPr/>
          <p:nvPr/>
        </p:nvSpPr>
        <p:spPr>
          <a:xfrm>
            <a:off x="2103120" y="3758184"/>
            <a:ext cx="6217920"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2-minute report before the PR merges</a:t>
            </a:r>
            <a:endParaRPr lang="en-US" sz="1350" dirty="0"/>
          </a:p>
        </p:txBody>
      </p:sp>
      <p:sp>
        <p:nvSpPr>
          <p:cNvPr id="22" name="Text 17"/>
          <p:cNvSpPr/>
          <p:nvPr/>
        </p:nvSpPr>
        <p:spPr>
          <a:xfrm>
            <a:off x="2103120" y="4123944"/>
            <a:ext cx="6217920" cy="475488"/>
          </a:xfrm>
          <a:prstGeom prst="rect">
            <a:avLst/>
          </a:prstGeom>
          <a:noFill/>
          <a:ln/>
        </p:spPr>
        <p:txBody>
          <a:bodyPr wrap="square" rtlCol="0" anchor="ctr"/>
          <a:lstStyle/>
          <a:p>
            <a:pPr marL="0" indent="0">
              <a:buNone/>
            </a:pPr>
            <a:r>
              <a:rPr lang="en-US" sz="1100" dirty="0">
                <a:solidFill>
                  <a:srgbClr val="A8D8DF"/>
                </a:solidFill>
                <a:latin typeface="Calibri" pitchFamily="34" charset="0"/>
                <a:ea typeface="Calibri" pitchFamily="34" charset="-122"/>
                <a:cs typeface="Calibri" pitchFamily="34" charset="-120"/>
              </a:rPr>
              <a:t>"Safe to ship" or "These 2 apps will break — here's exactly why" — in plain English, not error logs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lIns="0" tIns="0" rIns="0" bIns="0" rtlCol="0" anchor="ctr"/>
          <a:lstStyle/>
          <a:p>
            <a:pPr marL="0" indent="0" algn="l">
              <a:buNone/>
            </a:pPr>
            <a:r>
              <a:rPr lang="en-US" sz="3000" b="1" dirty="0">
                <a:solidFill>
                  <a:srgbClr val="1A2E35"/>
                </a:solidFill>
                <a:latin typeface="Calibri" pitchFamily="34" charset="0"/>
                <a:ea typeface="Calibri" pitchFamily="34" charset="-122"/>
                <a:cs typeface="Calibri" pitchFamily="34" charset="-120"/>
              </a:rPr>
              <a:t>Live Demo — One Complete Flow</a:t>
            </a:r>
            <a:endParaRPr lang="en-US" sz="30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marL="0" indent="0" algn="l">
              <a:buNone/>
            </a:pPr>
            <a:r>
              <a:rPr lang="en-US" sz="1300" dirty="0">
                <a:solidFill>
                  <a:srgbClr val="5A7A82"/>
                </a:solidFill>
                <a:latin typeface="Calibri" pitchFamily="34" charset="0"/>
                <a:ea typeface="Calibri" pitchFamily="34" charset="-122"/>
                <a:cs typeface="Calibri" pitchFamily="34" charset="-120"/>
              </a:rPr>
              <a:t>Component update ships → affected apps validated → impact report delivered</a:t>
            </a:r>
            <a:endParaRPr lang="en-US" sz="1300" dirty="0"/>
          </a:p>
        </p:txBody>
      </p:sp>
      <p:pic>
        <p:nvPicPr>
          <p:cNvPr id="6" name="Picture 5">
            <a:extLst>
              <a:ext uri="{FF2B5EF4-FFF2-40B4-BE49-F238E27FC236}">
                <a16:creationId xmlns:a16="http://schemas.microsoft.com/office/drawing/2014/main" id="{355D2D7C-E063-9DA4-B517-4A328A8211A2}"/>
              </a:ext>
            </a:extLst>
          </p:cNvPr>
          <p:cNvPicPr>
            <a:picLocks noChangeAspect="1"/>
          </p:cNvPicPr>
          <p:nvPr/>
        </p:nvPicPr>
        <p:blipFill>
          <a:blip r:embed="rId3"/>
          <a:stretch>
            <a:fillRect/>
          </a:stretch>
        </p:blipFill>
        <p:spPr>
          <a:xfrm>
            <a:off x="1394298" y="1015053"/>
            <a:ext cx="6355403" cy="39721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B33"/>
        </a:solidFill>
        <a:effectLst/>
      </p:bgPr>
    </p:bg>
    <p:spTree>
      <p:nvGrpSpPr>
        <p:cNvPr id="1" name=""/>
        <p:cNvGrpSpPr/>
        <p:nvPr/>
      </p:nvGrpSpPr>
      <p:grpSpPr>
        <a:xfrm>
          <a:off x="0" y="0"/>
          <a:ext cx="0" cy="0"/>
          <a:chOff x="0" y="0"/>
          <a:chExt cx="0" cy="0"/>
        </a:xfrm>
      </p:grpSpPr>
      <p:sp>
        <p:nvSpPr>
          <p:cNvPr id="2" name="Shape 0"/>
          <p:cNvSpPr/>
          <p:nvPr/>
        </p:nvSpPr>
        <p:spPr>
          <a:xfrm>
            <a:off x="7315200" y="3200400"/>
            <a:ext cx="2560320" cy="2560320"/>
          </a:xfrm>
          <a:prstGeom prst="ellipse">
            <a:avLst/>
          </a:prstGeom>
          <a:solidFill>
            <a:srgbClr val="028090">
              <a:alpha val="14000"/>
            </a:srgbClr>
          </a:solidFill>
          <a:ln w="12700">
            <a:solidFill>
              <a:srgbClr val="028090">
                <a:alpha val="14000"/>
              </a:srgbClr>
            </a:solidFill>
            <a:prstDash val="solid"/>
          </a:ln>
        </p:spPr>
        <p:txBody>
          <a:bodyPr/>
          <a:lstStyle/>
          <a:p>
            <a:endParaRPr lang="en-IN"/>
          </a:p>
        </p:txBody>
      </p:sp>
      <p:sp>
        <p:nvSpPr>
          <p:cNvPr id="3" name="Shape 1"/>
          <p:cNvSpPr/>
          <p:nvPr/>
        </p:nvSpPr>
        <p:spPr>
          <a:xfrm>
            <a:off x="457200" y="384048"/>
            <a:ext cx="2286000" cy="347472"/>
          </a:xfrm>
          <a:prstGeom prst="roundRect">
            <a:avLst>
              <a:gd name="adj" fmla="val 21053"/>
            </a:avLst>
          </a:prstGeom>
          <a:solidFill>
            <a:srgbClr val="E05C2A"/>
          </a:solidFill>
          <a:ln w="12700">
            <a:solidFill>
              <a:srgbClr val="E05C2A"/>
            </a:solidFill>
            <a:prstDash val="solid"/>
          </a:ln>
        </p:spPr>
        <p:txBody>
          <a:bodyPr/>
          <a:lstStyle/>
          <a:p>
            <a:endParaRPr lang="en-IN"/>
          </a:p>
        </p:txBody>
      </p:sp>
      <p:sp>
        <p:nvSpPr>
          <p:cNvPr id="4" name="Text 2"/>
          <p:cNvSpPr/>
          <p:nvPr/>
        </p:nvSpPr>
        <p:spPr>
          <a:xfrm>
            <a:off x="457200" y="384048"/>
            <a:ext cx="2286000" cy="347472"/>
          </a:xfrm>
          <a:prstGeom prst="rect">
            <a:avLst/>
          </a:prstGeom>
          <a:noFill/>
          <a:ln/>
        </p:spPr>
        <p:txBody>
          <a:bodyPr wrap="square" lIns="0" tIns="0" rIns="0" bIns="0" rtlCol="0" anchor="ctr"/>
          <a:lstStyle/>
          <a:p>
            <a:pPr marL="0" indent="0" algn="ctr">
              <a:buNone/>
            </a:pPr>
            <a:r>
              <a:rPr lang="en-US" sz="900" b="1" dirty="0">
                <a:solidFill>
                  <a:srgbClr val="FFFFFF"/>
                </a:solidFill>
              </a:rPr>
              <a:t>THE WOW MOMENT</a:t>
            </a:r>
            <a:endParaRPr lang="en-US" sz="900" dirty="0"/>
          </a:p>
        </p:txBody>
      </p:sp>
      <p:sp>
        <p:nvSpPr>
          <p:cNvPr id="5" name="Text 3"/>
          <p:cNvSpPr/>
          <p:nvPr/>
        </p:nvSpPr>
        <p:spPr>
          <a:xfrm>
            <a:off x="457200" y="822960"/>
            <a:ext cx="8229600" cy="59436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This Is What No Static Tool Can Do.</a:t>
            </a:r>
            <a:endParaRPr lang="en-US" sz="3400" dirty="0"/>
          </a:p>
        </p:txBody>
      </p:sp>
      <p:sp>
        <p:nvSpPr>
          <p:cNvPr id="6" name="Text 4"/>
          <p:cNvSpPr/>
          <p:nvPr/>
        </p:nvSpPr>
        <p:spPr>
          <a:xfrm>
            <a:off x="457200" y="1389888"/>
            <a:ext cx="7772400" cy="329184"/>
          </a:xfrm>
          <a:prstGeom prst="rect">
            <a:avLst/>
          </a:prstGeom>
          <a:noFill/>
          <a:ln/>
        </p:spPr>
        <p:txBody>
          <a:bodyPr wrap="square" lIns="0" tIns="0" rIns="0" bIns="0" rtlCol="0" anchor="ctr"/>
          <a:lstStyle/>
          <a:p>
            <a:pPr marL="0" indent="0" algn="l">
              <a:buNone/>
            </a:pPr>
            <a:r>
              <a:rPr lang="en-US" sz="1400" dirty="0">
                <a:solidFill>
                  <a:srgbClr val="00A896"/>
                </a:solidFill>
                <a:latin typeface="Calibri" pitchFamily="34" charset="0"/>
                <a:ea typeface="Calibri" pitchFamily="34" charset="-122"/>
                <a:cs typeface="Calibri" pitchFamily="34" charset="-120"/>
              </a:rPr>
              <a:t>Claude doesn't just run tests. It reasons about why something will break.</a:t>
            </a:r>
            <a:endParaRPr lang="en-US" sz="1400" dirty="0"/>
          </a:p>
        </p:txBody>
      </p:sp>
      <p:sp>
        <p:nvSpPr>
          <p:cNvPr id="7" name="Shape 5"/>
          <p:cNvSpPr/>
          <p:nvPr/>
        </p:nvSpPr>
        <p:spPr>
          <a:xfrm>
            <a:off x="457200" y="1874520"/>
            <a:ext cx="3474720" cy="2944368"/>
          </a:xfrm>
          <a:prstGeom prst="roundRect">
            <a:avLst>
              <a:gd name="adj" fmla="val 3727"/>
            </a:avLst>
          </a:prstGeom>
          <a:solidFill>
            <a:srgbClr val="FFFFFF">
              <a:alpha val="8000"/>
            </a:srgbClr>
          </a:solidFill>
          <a:ln w="19050">
            <a:solidFill>
              <a:srgbClr val="E05C2A">
                <a:alpha val="60000"/>
              </a:srgbClr>
            </a:solidFill>
            <a:prstDash val="solid"/>
          </a:ln>
        </p:spPr>
        <p:txBody>
          <a:bodyPr/>
          <a:lstStyle/>
          <a:p>
            <a:endParaRPr lang="en-IN"/>
          </a:p>
        </p:txBody>
      </p:sp>
      <p:sp>
        <p:nvSpPr>
          <p:cNvPr id="8" name="Text 6"/>
          <p:cNvSpPr/>
          <p:nvPr/>
        </p:nvSpPr>
        <p:spPr>
          <a:xfrm>
            <a:off x="594360" y="1993392"/>
            <a:ext cx="3200400" cy="320040"/>
          </a:xfrm>
          <a:prstGeom prst="rect">
            <a:avLst/>
          </a:prstGeom>
          <a:noFill/>
          <a:ln/>
        </p:spPr>
        <p:txBody>
          <a:bodyPr wrap="square" lIns="0" tIns="0" rIns="0" bIns="0" rtlCol="0" anchor="ctr"/>
          <a:lstStyle/>
          <a:p>
            <a:pPr marL="0" indent="0">
              <a:buNone/>
            </a:pPr>
            <a:r>
              <a:rPr lang="en-US" sz="1100" b="1" dirty="0">
                <a:solidFill>
                  <a:srgbClr val="E05C2A"/>
                </a:solidFill>
                <a:latin typeface="Calibri" pitchFamily="34" charset="0"/>
                <a:ea typeface="Calibri" pitchFamily="34" charset="-122"/>
                <a:cs typeface="Calibri" pitchFamily="34" charset="-120"/>
              </a:rPr>
              <a:t>Static Analysis Says:</a:t>
            </a:r>
            <a:endParaRPr lang="en-US" sz="1100" dirty="0"/>
          </a:p>
        </p:txBody>
      </p:sp>
      <p:sp>
        <p:nvSpPr>
          <p:cNvPr id="9" name="Text 7"/>
          <p:cNvSpPr/>
          <p:nvPr/>
        </p:nvSpPr>
        <p:spPr>
          <a:xfrm>
            <a:off x="594360" y="2395728"/>
            <a:ext cx="3200400" cy="347472"/>
          </a:xfrm>
          <a:prstGeom prst="rect">
            <a:avLst/>
          </a:prstGeom>
          <a:noFill/>
          <a:ln/>
        </p:spPr>
        <p:txBody>
          <a:bodyPr wrap="square" lIns="0" tIns="0" rIns="0" bIns="0" rtlCol="0" anchor="ctr"/>
          <a:lstStyle/>
          <a:p>
            <a:pPr marL="0" indent="0">
              <a:buNone/>
            </a:pPr>
            <a:r>
              <a:rPr lang="en-US" sz="1050" dirty="0">
                <a:solidFill>
                  <a:srgbClr val="C8D8DC"/>
                </a:solidFill>
                <a:latin typeface="Courier New" pitchFamily="34" charset="0"/>
                <a:ea typeface="Courier New" pitchFamily="34" charset="-122"/>
                <a:cs typeface="Courier New" pitchFamily="34" charset="-120"/>
              </a:rPr>
              <a:t>FAIL: 3 test failures</a:t>
            </a:r>
            <a:endParaRPr lang="en-US" sz="1050" dirty="0"/>
          </a:p>
        </p:txBody>
      </p:sp>
      <p:sp>
        <p:nvSpPr>
          <p:cNvPr id="10" name="Text 8"/>
          <p:cNvSpPr/>
          <p:nvPr/>
        </p:nvSpPr>
        <p:spPr>
          <a:xfrm>
            <a:off x="594360" y="2779776"/>
            <a:ext cx="3200400" cy="347472"/>
          </a:xfrm>
          <a:prstGeom prst="rect">
            <a:avLst/>
          </a:prstGeom>
          <a:noFill/>
          <a:ln/>
        </p:spPr>
        <p:txBody>
          <a:bodyPr wrap="square" lIns="0" tIns="0" rIns="0" bIns="0" rtlCol="0" anchor="ctr"/>
          <a:lstStyle/>
          <a:p>
            <a:pPr marL="0" indent="0">
              <a:buNone/>
            </a:pPr>
            <a:r>
              <a:rPr lang="en-US" sz="1050" dirty="0">
                <a:solidFill>
                  <a:srgbClr val="C8D8DC"/>
                </a:solidFill>
                <a:latin typeface="Courier New" pitchFamily="34" charset="0"/>
                <a:ea typeface="Courier New" pitchFamily="34" charset="-122"/>
                <a:cs typeface="Courier New" pitchFamily="34" charset="-120"/>
              </a:rPr>
              <a:t>File: dropdown.component.ts</a:t>
            </a:r>
            <a:endParaRPr lang="en-US" sz="1050" dirty="0"/>
          </a:p>
        </p:txBody>
      </p:sp>
      <p:sp>
        <p:nvSpPr>
          <p:cNvPr id="11" name="Text 9"/>
          <p:cNvSpPr/>
          <p:nvPr/>
        </p:nvSpPr>
        <p:spPr>
          <a:xfrm>
            <a:off x="594360" y="3163824"/>
            <a:ext cx="3200400" cy="347472"/>
          </a:xfrm>
          <a:prstGeom prst="rect">
            <a:avLst/>
          </a:prstGeom>
          <a:noFill/>
          <a:ln/>
        </p:spPr>
        <p:txBody>
          <a:bodyPr wrap="square" lIns="0" tIns="0" rIns="0" bIns="0" rtlCol="0" anchor="ctr"/>
          <a:lstStyle/>
          <a:p>
            <a:pPr marL="0" indent="0">
              <a:buNone/>
            </a:pPr>
            <a:r>
              <a:rPr lang="en-US" sz="1050" dirty="0">
                <a:solidFill>
                  <a:srgbClr val="C8D8DC"/>
                </a:solidFill>
                <a:latin typeface="Courier New" pitchFamily="34" charset="0"/>
                <a:ea typeface="Courier New" pitchFamily="34" charset="-122"/>
                <a:cs typeface="Courier New" pitchFamily="34" charset="-120"/>
              </a:rPr>
              <a:t>File: date-picker.module.ts</a:t>
            </a:r>
            <a:endParaRPr lang="en-US" sz="1050" dirty="0"/>
          </a:p>
        </p:txBody>
      </p:sp>
      <p:sp>
        <p:nvSpPr>
          <p:cNvPr id="12" name="Text 10"/>
          <p:cNvSpPr/>
          <p:nvPr/>
        </p:nvSpPr>
        <p:spPr>
          <a:xfrm>
            <a:off x="594360" y="3547872"/>
            <a:ext cx="3200400" cy="347472"/>
          </a:xfrm>
          <a:prstGeom prst="rect">
            <a:avLst/>
          </a:prstGeom>
          <a:noFill/>
          <a:ln/>
        </p:spPr>
        <p:txBody>
          <a:bodyPr wrap="square" lIns="0" tIns="0" rIns="0" bIns="0" rtlCol="0" anchor="ctr"/>
          <a:lstStyle/>
          <a:p>
            <a:pPr marL="0" indent="0">
              <a:buNone/>
            </a:pPr>
            <a:r>
              <a:rPr lang="en-US" sz="1050" dirty="0">
                <a:solidFill>
                  <a:srgbClr val="C8D8DC"/>
                </a:solidFill>
                <a:latin typeface="Courier New" pitchFamily="34" charset="0"/>
                <a:ea typeface="Courier New" pitchFamily="34" charset="-122"/>
                <a:cs typeface="Courier New" pitchFamily="34" charset="-120"/>
              </a:rPr>
              <a:t>File: filter-panel.spec.ts</a:t>
            </a:r>
            <a:endParaRPr lang="en-US" sz="1050" dirty="0"/>
          </a:p>
        </p:txBody>
      </p:sp>
      <p:pic>
        <p:nvPicPr>
          <p:cNvPr id="13" name="Image 0" descr="preencoded.png"/>
          <p:cNvPicPr>
            <a:picLocks noChangeAspect="1"/>
          </p:cNvPicPr>
          <p:nvPr/>
        </p:nvPicPr>
        <p:blipFill>
          <a:blip r:embed="rId3"/>
          <a:stretch>
            <a:fillRect/>
          </a:stretch>
        </p:blipFill>
        <p:spPr>
          <a:xfrm>
            <a:off x="594360" y="4041648"/>
            <a:ext cx="320040" cy="320040"/>
          </a:xfrm>
          <a:prstGeom prst="rect">
            <a:avLst/>
          </a:prstGeom>
        </p:spPr>
      </p:pic>
      <p:sp>
        <p:nvSpPr>
          <p:cNvPr id="14" name="Text 11"/>
          <p:cNvSpPr/>
          <p:nvPr/>
        </p:nvSpPr>
        <p:spPr>
          <a:xfrm>
            <a:off x="987552" y="4041648"/>
            <a:ext cx="2834640" cy="320040"/>
          </a:xfrm>
          <a:prstGeom prst="rect">
            <a:avLst/>
          </a:prstGeom>
          <a:noFill/>
          <a:ln/>
        </p:spPr>
        <p:txBody>
          <a:bodyPr wrap="square" rtlCol="0" anchor="ctr"/>
          <a:lstStyle/>
          <a:p>
            <a:pPr marL="0" indent="0">
              <a:buNone/>
            </a:pPr>
            <a:r>
              <a:rPr lang="en-US" sz="1000" i="1" dirty="0">
                <a:solidFill>
                  <a:srgbClr val="E05C2A"/>
                </a:solidFill>
                <a:latin typeface="Calibri" pitchFamily="34" charset="0"/>
                <a:ea typeface="Calibri" pitchFamily="34" charset="-122"/>
                <a:cs typeface="Calibri" pitchFamily="34" charset="-120"/>
              </a:rPr>
              <a:t>"Which apps? Why? What to fix?" — still unknown.</a:t>
            </a:r>
            <a:endParaRPr lang="en-US" sz="1000" dirty="0"/>
          </a:p>
        </p:txBody>
      </p:sp>
      <p:pic>
        <p:nvPicPr>
          <p:cNvPr id="15" name="Image 1" descr="preencoded.png"/>
          <p:cNvPicPr>
            <a:picLocks noChangeAspect="1"/>
          </p:cNvPicPr>
          <p:nvPr/>
        </p:nvPicPr>
        <p:blipFill>
          <a:blip r:embed="rId4"/>
          <a:stretch>
            <a:fillRect/>
          </a:stretch>
        </p:blipFill>
        <p:spPr>
          <a:xfrm>
            <a:off x="4069080" y="3154680"/>
            <a:ext cx="365760" cy="365760"/>
          </a:xfrm>
          <a:prstGeom prst="rect">
            <a:avLst/>
          </a:prstGeom>
        </p:spPr>
      </p:pic>
      <p:sp>
        <p:nvSpPr>
          <p:cNvPr id="16" name="Shape 12"/>
          <p:cNvSpPr/>
          <p:nvPr/>
        </p:nvSpPr>
        <p:spPr>
          <a:xfrm>
            <a:off x="4617720" y="1874520"/>
            <a:ext cx="4069080" cy="2944368"/>
          </a:xfrm>
          <a:prstGeom prst="roundRect">
            <a:avLst>
              <a:gd name="adj" fmla="val 3727"/>
            </a:avLst>
          </a:prstGeom>
          <a:solidFill>
            <a:srgbClr val="FFFFFF">
              <a:alpha val="10000"/>
            </a:srgbClr>
          </a:solidFill>
          <a:ln w="19050">
            <a:solidFill>
              <a:srgbClr val="02C39A">
                <a:alpha val="80000"/>
              </a:srgbClr>
            </a:solidFill>
            <a:prstDash val="solid"/>
          </a:ln>
        </p:spPr>
        <p:txBody>
          <a:bodyPr/>
          <a:lstStyle/>
          <a:p>
            <a:endParaRPr lang="en-IN"/>
          </a:p>
        </p:txBody>
      </p:sp>
      <p:sp>
        <p:nvSpPr>
          <p:cNvPr id="17" name="Text 13"/>
          <p:cNvSpPr/>
          <p:nvPr/>
        </p:nvSpPr>
        <p:spPr>
          <a:xfrm>
            <a:off x="4754880" y="1993392"/>
            <a:ext cx="3794760" cy="320040"/>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Claude Reasons:</a:t>
            </a:r>
            <a:endParaRPr lang="en-US" sz="1100" dirty="0"/>
          </a:p>
        </p:txBody>
      </p:sp>
      <p:sp>
        <p:nvSpPr>
          <p:cNvPr id="18" name="Text 14"/>
          <p:cNvSpPr/>
          <p:nvPr/>
        </p:nvSpPr>
        <p:spPr>
          <a:xfrm>
            <a:off x="4754880" y="2377440"/>
            <a:ext cx="3794760" cy="2212848"/>
          </a:xfrm>
          <a:prstGeom prst="rect">
            <a:avLst/>
          </a:prstGeom>
          <a:noFill/>
          <a:ln/>
        </p:spPr>
        <p:txBody>
          <a:bodyPr wrap="square" rtlCol="0" anchor="ctr"/>
          <a:lstStyle/>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"The onSelect interface was removed from</a:t>
            </a: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op-cc-dropdown. Two apps depend on it:</a:t>
            </a:r>
            <a:endParaRPr lang="en-US" sz="1000" dirty="0"/>
          </a:p>
          <a:p>
            <a:pPr marL="0" indent="0">
              <a:lnSpc>
                <a:spcPct val="120000"/>
              </a:lnSpc>
              <a:buNone/>
            </a:pP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 Finance Module — date picker uses</a:t>
            </a: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  onSelect to update the booking form.</a:t>
            </a: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  It will silently stop working.</a:t>
            </a:r>
            <a:endParaRPr lang="en-US" sz="1000" dirty="0"/>
          </a:p>
          <a:p>
            <a:pPr marL="0" indent="0">
              <a:lnSpc>
                <a:spcPct val="120000"/>
              </a:lnSpc>
              <a:buNone/>
            </a:pP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 Reporting App — filter panel uses</a:t>
            </a: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  onSelect for multi-select state.</a:t>
            </a:r>
            <a:endParaRPr lang="en-US" sz="1000" dirty="0"/>
          </a:p>
          <a:p>
            <a:pPr marL="0" indent="0">
              <a:lnSpc>
                <a:spcPct val="120000"/>
              </a:lnSpc>
              <a:buNone/>
            </a:pP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Recommend: hold release. Update</a:t>
            </a:r>
            <a:endParaRPr lang="en-US" sz="1000" dirty="0"/>
          </a:p>
          <a:p>
            <a:pPr marL="0" indent="0">
              <a:lnSpc>
                <a:spcPct val="120000"/>
              </a:lnSpc>
              <a:buNone/>
            </a:pPr>
            <a:r>
              <a:rPr lang="en-US" sz="1000" dirty="0">
                <a:solidFill>
                  <a:srgbClr val="FFFFFF"/>
                </a:solidFill>
                <a:latin typeface="Calibri" pitchFamily="34" charset="0"/>
                <a:ea typeface="Calibri" pitchFamily="34" charset="-122"/>
                <a:cs typeface="Calibri" pitchFamily="34" charset="-120"/>
              </a:rPr>
              <a:t>consumers before shipping."</a:t>
            </a:r>
            <a:endParaRPr lang="en-US" sz="1000" dirty="0"/>
          </a:p>
        </p:txBody>
      </p:sp>
      <p:pic>
        <p:nvPicPr>
          <p:cNvPr id="19" name="Image 2" descr="preencoded.png"/>
          <p:cNvPicPr>
            <a:picLocks noChangeAspect="1"/>
          </p:cNvPicPr>
          <p:nvPr/>
        </p:nvPicPr>
        <p:blipFill>
          <a:blip r:embed="rId5"/>
          <a:stretch>
            <a:fillRect/>
          </a:stretch>
        </p:blipFill>
        <p:spPr>
          <a:xfrm>
            <a:off x="4754880" y="4041648"/>
            <a:ext cx="320040" cy="320040"/>
          </a:xfrm>
          <a:prstGeom prst="rect">
            <a:avLst/>
          </a:prstGeom>
        </p:spPr>
      </p:pic>
      <p:sp>
        <p:nvSpPr>
          <p:cNvPr id="20" name="Text 15"/>
          <p:cNvSpPr/>
          <p:nvPr/>
        </p:nvSpPr>
        <p:spPr>
          <a:xfrm>
            <a:off x="5148072" y="4041648"/>
            <a:ext cx="3429000" cy="320040"/>
          </a:xfrm>
          <a:prstGeom prst="rect">
            <a:avLst/>
          </a:prstGeom>
          <a:noFill/>
          <a:ln/>
        </p:spPr>
        <p:txBody>
          <a:bodyPr wrap="square"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Judgment call. Specific. Actionable. Human-readable.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lIns="0" tIns="0" rIns="0" bIns="0" rtlCol="0" anchor="ctr"/>
          <a:lstStyle/>
          <a:p>
            <a:pPr marL="0" indent="0" algn="l">
              <a:buNone/>
            </a:pPr>
            <a:r>
              <a:rPr lang="en-US" sz="3600" b="1" dirty="0">
                <a:solidFill>
                  <a:srgbClr val="1A2E35"/>
                </a:solidFill>
                <a:latin typeface="Calibri" pitchFamily="34" charset="0"/>
                <a:ea typeface="Calibri" pitchFamily="34" charset="-122"/>
                <a:cs typeface="Calibri" pitchFamily="34" charset="-120"/>
              </a:rPr>
              <a:t>The After.</a:t>
            </a:r>
            <a:endParaRPr lang="en-US" sz="3600" dirty="0"/>
          </a:p>
        </p:txBody>
      </p:sp>
      <p:sp>
        <p:nvSpPr>
          <p:cNvPr id="3" name="Shape 1"/>
          <p:cNvSpPr/>
          <p:nvPr/>
        </p:nvSpPr>
        <p:spPr>
          <a:xfrm>
            <a:off x="457200" y="822960"/>
            <a:ext cx="8229600" cy="27432"/>
          </a:xfrm>
          <a:prstGeom prst="rect">
            <a:avLst/>
          </a:prstGeom>
          <a:solidFill>
            <a:srgbClr val="028090"/>
          </a:solidFill>
          <a:ln w="12700">
            <a:solidFill>
              <a:srgbClr val="028090"/>
            </a:solidFill>
            <a:prstDash val="solid"/>
          </a:ln>
        </p:spPr>
        <p:txBody>
          <a:bodyPr/>
          <a:lstStyle/>
          <a:p>
            <a:endParaRPr lang="en-IN"/>
          </a:p>
        </p:txBody>
      </p:sp>
      <p:sp>
        <p:nvSpPr>
          <p:cNvPr id="4" name="Shape 2"/>
          <p:cNvSpPr/>
          <p:nvPr/>
        </p:nvSpPr>
        <p:spPr>
          <a:xfrm>
            <a:off x="3246120" y="960120"/>
            <a:ext cx="2514600" cy="384048"/>
          </a:xfrm>
          <a:prstGeom prst="roundRect">
            <a:avLst>
              <a:gd name="adj" fmla="val 19048"/>
            </a:avLst>
          </a:prstGeom>
          <a:solidFill>
            <a:srgbClr val="E05C2A"/>
          </a:solidFill>
          <a:ln w="12700">
            <a:solidFill>
              <a:srgbClr val="E05C2A"/>
            </a:solidFill>
            <a:prstDash val="solid"/>
          </a:ln>
        </p:spPr>
        <p:txBody>
          <a:bodyPr/>
          <a:lstStyle/>
          <a:p>
            <a:endParaRPr lang="en-IN"/>
          </a:p>
        </p:txBody>
      </p:sp>
      <p:sp>
        <p:nvSpPr>
          <p:cNvPr id="5" name="Text 3"/>
          <p:cNvSpPr/>
          <p:nvPr/>
        </p:nvSpPr>
        <p:spPr>
          <a:xfrm>
            <a:off x="3246120" y="960120"/>
            <a:ext cx="2514600" cy="384048"/>
          </a:xfrm>
          <a:prstGeom prst="rect">
            <a:avLst/>
          </a:prstGeom>
          <a:noFill/>
          <a:ln/>
        </p:spPr>
        <p:txBody>
          <a:bodyPr wrap="square" lIns="0" tIns="0" rIns="0" bIns="0" rtlCol="0" anchor="ctr"/>
          <a:lstStyle/>
          <a:p>
            <a:pPr marL="0" indent="0" algn="ctr">
              <a:buNone/>
            </a:pPr>
            <a:r>
              <a:rPr lang="en-US" sz="1000" b="1" dirty="0">
                <a:solidFill>
                  <a:srgbClr val="FFFFFF"/>
                </a:solidFill>
              </a:rPr>
              <a:t>WITHOUT RIPPLEVIEW</a:t>
            </a:r>
            <a:endParaRPr lang="en-US" sz="1000" dirty="0"/>
          </a:p>
        </p:txBody>
      </p:sp>
      <p:sp>
        <p:nvSpPr>
          <p:cNvPr id="6" name="Shape 4"/>
          <p:cNvSpPr/>
          <p:nvPr/>
        </p:nvSpPr>
        <p:spPr>
          <a:xfrm>
            <a:off x="5989320" y="960120"/>
            <a:ext cx="2697480" cy="384048"/>
          </a:xfrm>
          <a:prstGeom prst="roundRect">
            <a:avLst>
              <a:gd name="adj" fmla="val 19048"/>
            </a:avLst>
          </a:prstGeom>
          <a:solidFill>
            <a:srgbClr val="2DB87A"/>
          </a:solidFill>
          <a:ln w="12700">
            <a:solidFill>
              <a:srgbClr val="2DB87A"/>
            </a:solidFill>
            <a:prstDash val="solid"/>
          </a:ln>
        </p:spPr>
        <p:txBody>
          <a:bodyPr/>
          <a:lstStyle/>
          <a:p>
            <a:endParaRPr lang="en-IN"/>
          </a:p>
        </p:txBody>
      </p:sp>
      <p:sp>
        <p:nvSpPr>
          <p:cNvPr id="7" name="Text 5"/>
          <p:cNvSpPr/>
          <p:nvPr/>
        </p:nvSpPr>
        <p:spPr>
          <a:xfrm>
            <a:off x="5989320" y="960120"/>
            <a:ext cx="2697480" cy="384048"/>
          </a:xfrm>
          <a:prstGeom prst="rect">
            <a:avLst/>
          </a:prstGeom>
          <a:noFill/>
          <a:ln/>
        </p:spPr>
        <p:txBody>
          <a:bodyPr wrap="square" lIns="0" tIns="0" rIns="0" bIns="0" rtlCol="0" anchor="ctr"/>
          <a:lstStyle/>
          <a:p>
            <a:pPr marL="0" indent="0" algn="ctr">
              <a:buNone/>
            </a:pPr>
            <a:r>
              <a:rPr lang="en-US" sz="1000" b="1" dirty="0">
                <a:solidFill>
                  <a:srgbClr val="FFFFFF"/>
                </a:solidFill>
              </a:rPr>
              <a:t>WITH RIPPLEVIEW</a:t>
            </a:r>
            <a:endParaRPr lang="en-US" sz="1000" dirty="0"/>
          </a:p>
        </p:txBody>
      </p:sp>
      <p:sp>
        <p:nvSpPr>
          <p:cNvPr id="8" name="Shape 6"/>
          <p:cNvSpPr/>
          <p:nvPr/>
        </p:nvSpPr>
        <p:spPr>
          <a:xfrm>
            <a:off x="365760" y="1463040"/>
            <a:ext cx="8412480" cy="621792"/>
          </a:xfrm>
          <a:prstGeom prst="rect">
            <a:avLst/>
          </a:prstGeom>
          <a:solidFill>
            <a:srgbClr val="F0F7F8"/>
          </a:solidFill>
          <a:ln w="6350">
            <a:solidFill>
              <a:srgbClr val="D8ECEF"/>
            </a:solidFill>
            <a:prstDash val="solid"/>
          </a:ln>
        </p:spPr>
        <p:txBody>
          <a:bodyPr/>
          <a:lstStyle/>
          <a:p>
            <a:endParaRPr lang="en-IN"/>
          </a:p>
        </p:txBody>
      </p:sp>
      <p:sp>
        <p:nvSpPr>
          <p:cNvPr id="9" name="Text 7"/>
          <p:cNvSpPr/>
          <p:nvPr/>
        </p:nvSpPr>
        <p:spPr>
          <a:xfrm>
            <a:off x="502920" y="1527048"/>
            <a:ext cx="2606040" cy="493776"/>
          </a:xfrm>
          <a:prstGeom prst="rect">
            <a:avLst/>
          </a:prstGeom>
          <a:noFill/>
          <a:ln/>
        </p:spPr>
        <p:txBody>
          <a:bodyPr wrap="square" rtlCol="0" anchor="ctr"/>
          <a:lstStyle/>
          <a:p>
            <a:pPr marL="0" indent="0">
              <a:buNone/>
            </a:pPr>
            <a:r>
              <a:rPr lang="en-US" sz="1050" dirty="0">
                <a:solidFill>
                  <a:srgbClr val="1A2E35"/>
                </a:solidFill>
                <a:latin typeface="Calibri" pitchFamily="34" charset="0"/>
                <a:ea typeface="Calibri" pitchFamily="34" charset="-122"/>
                <a:cs typeface="Calibri" pitchFamily="34" charset="-120"/>
              </a:rPr>
              <a:t>Time to detect a silent breaking change</a:t>
            </a:r>
            <a:endParaRPr lang="en-US" sz="1050" dirty="0"/>
          </a:p>
        </p:txBody>
      </p:sp>
      <p:sp>
        <p:nvSpPr>
          <p:cNvPr id="10" name="Text 8"/>
          <p:cNvSpPr/>
          <p:nvPr/>
        </p:nvSpPr>
        <p:spPr>
          <a:xfrm>
            <a:off x="3246120" y="1527048"/>
            <a:ext cx="2514600" cy="493776"/>
          </a:xfrm>
          <a:prstGeom prst="rect">
            <a:avLst/>
          </a:prstGeom>
          <a:noFill/>
          <a:ln/>
        </p:spPr>
        <p:txBody>
          <a:bodyPr wrap="square" rtlCol="0" anchor="ctr"/>
          <a:lstStyle/>
          <a:p>
            <a:pPr marL="0" indent="0" algn="ctr">
              <a:buNone/>
            </a:pPr>
            <a:r>
              <a:rPr lang="en-US" sz="1100" b="1" dirty="0">
                <a:solidFill>
                  <a:srgbClr val="E05C2A"/>
                </a:solidFill>
                <a:latin typeface="Calibri" pitchFamily="34" charset="0"/>
                <a:ea typeface="Calibri" pitchFamily="34" charset="-122"/>
                <a:cs typeface="Calibri" pitchFamily="34" charset="-120"/>
              </a:rPr>
              <a:t>2–4 hours</a:t>
            </a:r>
            <a:endParaRPr lang="en-US" sz="1100" dirty="0"/>
          </a:p>
        </p:txBody>
      </p:sp>
      <p:sp>
        <p:nvSpPr>
          <p:cNvPr id="11" name="Text 9"/>
          <p:cNvSpPr/>
          <p:nvPr/>
        </p:nvSpPr>
        <p:spPr>
          <a:xfrm>
            <a:off x="5989320" y="1527048"/>
            <a:ext cx="2697480" cy="493776"/>
          </a:xfrm>
          <a:prstGeom prst="rect">
            <a:avLst/>
          </a:prstGeom>
          <a:noFill/>
          <a:ln/>
        </p:spPr>
        <p:txBody>
          <a:bodyPr wrap="square" rtlCol="0" anchor="ctr"/>
          <a:lstStyle/>
          <a:p>
            <a:pPr marL="0" indent="0" algn="ctr">
              <a:buNone/>
            </a:pPr>
            <a:r>
              <a:rPr lang="en-US" sz="1100" b="1" dirty="0">
                <a:solidFill>
                  <a:srgbClr val="2DB87A"/>
                </a:solidFill>
                <a:latin typeface="Calibri" pitchFamily="34" charset="0"/>
                <a:ea typeface="Calibri" pitchFamily="34" charset="-122"/>
                <a:cs typeface="Calibri" pitchFamily="34" charset="-120"/>
              </a:rPr>
              <a:t>&lt; 2 minutes</a:t>
            </a:r>
            <a:endParaRPr lang="en-US" sz="1100" dirty="0"/>
          </a:p>
        </p:txBody>
      </p:sp>
      <p:sp>
        <p:nvSpPr>
          <p:cNvPr id="12" name="Shape 10"/>
          <p:cNvSpPr/>
          <p:nvPr/>
        </p:nvSpPr>
        <p:spPr>
          <a:xfrm>
            <a:off x="365760" y="2176272"/>
            <a:ext cx="8412480" cy="621792"/>
          </a:xfrm>
          <a:prstGeom prst="rect">
            <a:avLst/>
          </a:prstGeom>
          <a:solidFill>
            <a:srgbClr val="FFFFFF"/>
          </a:solidFill>
          <a:ln w="6350">
            <a:solidFill>
              <a:srgbClr val="D8ECEF"/>
            </a:solidFill>
            <a:prstDash val="solid"/>
          </a:ln>
        </p:spPr>
        <p:txBody>
          <a:bodyPr/>
          <a:lstStyle/>
          <a:p>
            <a:endParaRPr lang="en-IN"/>
          </a:p>
        </p:txBody>
      </p:sp>
      <p:sp>
        <p:nvSpPr>
          <p:cNvPr id="13" name="Text 11"/>
          <p:cNvSpPr/>
          <p:nvPr/>
        </p:nvSpPr>
        <p:spPr>
          <a:xfrm>
            <a:off x="502920" y="2240280"/>
            <a:ext cx="2606040" cy="493776"/>
          </a:xfrm>
          <a:prstGeom prst="rect">
            <a:avLst/>
          </a:prstGeom>
          <a:noFill/>
          <a:ln/>
        </p:spPr>
        <p:txBody>
          <a:bodyPr wrap="square" rtlCol="0" anchor="ctr"/>
          <a:lstStyle/>
          <a:p>
            <a:pPr marL="0" indent="0">
              <a:buNone/>
            </a:pPr>
            <a:r>
              <a:rPr lang="en-US" sz="1050" dirty="0">
                <a:solidFill>
                  <a:srgbClr val="1A2E35"/>
                </a:solidFill>
                <a:latin typeface="Calibri" pitchFamily="34" charset="0"/>
                <a:ea typeface="Calibri" pitchFamily="34" charset="-122"/>
                <a:cs typeface="Calibri" pitchFamily="34" charset="-120"/>
              </a:rPr>
              <a:t>Teams blocked per incident</a:t>
            </a:r>
            <a:endParaRPr lang="en-US" sz="1050" dirty="0"/>
          </a:p>
        </p:txBody>
      </p:sp>
      <p:sp>
        <p:nvSpPr>
          <p:cNvPr id="14" name="Text 12"/>
          <p:cNvSpPr/>
          <p:nvPr/>
        </p:nvSpPr>
        <p:spPr>
          <a:xfrm>
            <a:off x="3246120" y="2240280"/>
            <a:ext cx="2514600" cy="493776"/>
          </a:xfrm>
          <a:prstGeom prst="rect">
            <a:avLst/>
          </a:prstGeom>
          <a:noFill/>
          <a:ln/>
        </p:spPr>
        <p:txBody>
          <a:bodyPr wrap="square" rtlCol="0" anchor="ctr"/>
          <a:lstStyle/>
          <a:p>
            <a:pPr marL="0" indent="0" algn="ctr">
              <a:buNone/>
            </a:pPr>
            <a:r>
              <a:rPr lang="en-US" sz="1100" b="1" dirty="0">
                <a:solidFill>
                  <a:srgbClr val="E05C2A"/>
                </a:solidFill>
                <a:latin typeface="Calibri" pitchFamily="34" charset="0"/>
                <a:ea typeface="Calibri" pitchFamily="34" charset="-122"/>
                <a:cs typeface="Calibri" pitchFamily="34" charset="-120"/>
              </a:rPr>
              <a:t>3–5 teams</a:t>
            </a:r>
            <a:endParaRPr lang="en-US" sz="1100" dirty="0"/>
          </a:p>
        </p:txBody>
      </p:sp>
      <p:sp>
        <p:nvSpPr>
          <p:cNvPr id="15" name="Text 13"/>
          <p:cNvSpPr/>
          <p:nvPr/>
        </p:nvSpPr>
        <p:spPr>
          <a:xfrm>
            <a:off x="5989320" y="2240280"/>
            <a:ext cx="2697480" cy="493776"/>
          </a:xfrm>
          <a:prstGeom prst="rect">
            <a:avLst/>
          </a:prstGeom>
          <a:noFill/>
          <a:ln/>
        </p:spPr>
        <p:txBody>
          <a:bodyPr wrap="square" rtlCol="0" anchor="ctr"/>
          <a:lstStyle/>
          <a:p>
            <a:pPr marL="0" indent="0" algn="ctr">
              <a:buNone/>
            </a:pPr>
            <a:r>
              <a:rPr lang="en-US" sz="1100" b="1" dirty="0">
                <a:solidFill>
                  <a:srgbClr val="2DB87A"/>
                </a:solidFill>
                <a:latin typeface="Calibri" pitchFamily="34" charset="0"/>
                <a:ea typeface="Calibri" pitchFamily="34" charset="-122"/>
                <a:cs typeface="Calibri" pitchFamily="34" charset="-120"/>
              </a:rPr>
              <a:t>0 — stopped before shipping</a:t>
            </a:r>
            <a:endParaRPr lang="en-US" sz="1100" dirty="0"/>
          </a:p>
        </p:txBody>
      </p:sp>
      <p:sp>
        <p:nvSpPr>
          <p:cNvPr id="16" name="Shape 14"/>
          <p:cNvSpPr/>
          <p:nvPr/>
        </p:nvSpPr>
        <p:spPr>
          <a:xfrm>
            <a:off x="365760" y="2889504"/>
            <a:ext cx="8412480" cy="621792"/>
          </a:xfrm>
          <a:prstGeom prst="rect">
            <a:avLst/>
          </a:prstGeom>
          <a:solidFill>
            <a:srgbClr val="F0F7F8"/>
          </a:solidFill>
          <a:ln w="6350">
            <a:solidFill>
              <a:srgbClr val="D8ECEF"/>
            </a:solidFill>
            <a:prstDash val="solid"/>
          </a:ln>
        </p:spPr>
        <p:txBody>
          <a:bodyPr/>
          <a:lstStyle/>
          <a:p>
            <a:endParaRPr lang="en-IN"/>
          </a:p>
        </p:txBody>
      </p:sp>
      <p:sp>
        <p:nvSpPr>
          <p:cNvPr id="17" name="Text 15"/>
          <p:cNvSpPr/>
          <p:nvPr/>
        </p:nvSpPr>
        <p:spPr>
          <a:xfrm>
            <a:off x="502920" y="2953512"/>
            <a:ext cx="2606040" cy="493776"/>
          </a:xfrm>
          <a:prstGeom prst="rect">
            <a:avLst/>
          </a:prstGeom>
          <a:noFill/>
          <a:ln/>
        </p:spPr>
        <p:txBody>
          <a:bodyPr wrap="square" rtlCol="0" anchor="ctr"/>
          <a:lstStyle/>
          <a:p>
            <a:pPr marL="0" indent="0">
              <a:buNone/>
            </a:pPr>
            <a:r>
              <a:rPr lang="en-US" sz="1050" dirty="0">
                <a:solidFill>
                  <a:srgbClr val="1A2E35"/>
                </a:solidFill>
                <a:latin typeface="Calibri" pitchFamily="34" charset="0"/>
                <a:ea typeface="Calibri" pitchFamily="34" charset="-122"/>
                <a:cs typeface="Calibri" pitchFamily="34" charset="-120"/>
              </a:rPr>
              <a:t>How teams find out</a:t>
            </a:r>
            <a:endParaRPr lang="en-US" sz="1050" dirty="0"/>
          </a:p>
        </p:txBody>
      </p:sp>
      <p:sp>
        <p:nvSpPr>
          <p:cNvPr id="18" name="Text 16"/>
          <p:cNvSpPr/>
          <p:nvPr/>
        </p:nvSpPr>
        <p:spPr>
          <a:xfrm>
            <a:off x="3246120" y="2953512"/>
            <a:ext cx="2514600" cy="493776"/>
          </a:xfrm>
          <a:prstGeom prst="rect">
            <a:avLst/>
          </a:prstGeom>
          <a:noFill/>
          <a:ln/>
        </p:spPr>
        <p:txBody>
          <a:bodyPr wrap="square" rtlCol="0" anchor="ctr"/>
          <a:lstStyle/>
          <a:p>
            <a:pPr marL="0" indent="0" algn="ctr">
              <a:buNone/>
            </a:pPr>
            <a:r>
              <a:rPr lang="en-US" sz="1100" b="1" dirty="0">
                <a:solidFill>
                  <a:srgbClr val="E05C2A"/>
                </a:solidFill>
                <a:latin typeface="Calibri" pitchFamily="34" charset="0"/>
                <a:ea typeface="Calibri" pitchFamily="34" charset="-122"/>
                <a:cs typeface="Calibri" pitchFamily="34" charset="-120"/>
              </a:rPr>
              <a:t>User reports / staging panic</a:t>
            </a:r>
            <a:endParaRPr lang="en-US" sz="1100" dirty="0"/>
          </a:p>
        </p:txBody>
      </p:sp>
      <p:sp>
        <p:nvSpPr>
          <p:cNvPr id="19" name="Text 17"/>
          <p:cNvSpPr/>
          <p:nvPr/>
        </p:nvSpPr>
        <p:spPr>
          <a:xfrm>
            <a:off x="5989320" y="2953512"/>
            <a:ext cx="2697480" cy="493776"/>
          </a:xfrm>
          <a:prstGeom prst="rect">
            <a:avLst/>
          </a:prstGeom>
          <a:noFill/>
          <a:ln/>
        </p:spPr>
        <p:txBody>
          <a:bodyPr wrap="square" rtlCol="0" anchor="ctr"/>
          <a:lstStyle/>
          <a:p>
            <a:pPr marL="0" indent="0" algn="ctr">
              <a:buNone/>
            </a:pPr>
            <a:r>
              <a:rPr lang="en-US" sz="1100" b="1" dirty="0">
                <a:solidFill>
                  <a:srgbClr val="2DB87A"/>
                </a:solidFill>
                <a:latin typeface="Calibri" pitchFamily="34" charset="0"/>
                <a:ea typeface="Calibri" pitchFamily="34" charset="-122"/>
                <a:cs typeface="Calibri" pitchFamily="34" charset="-120"/>
              </a:rPr>
              <a:t>Automated report, pre-merge</a:t>
            </a:r>
            <a:endParaRPr lang="en-US" sz="1100" dirty="0"/>
          </a:p>
        </p:txBody>
      </p:sp>
      <p:sp>
        <p:nvSpPr>
          <p:cNvPr id="20" name="Shape 18"/>
          <p:cNvSpPr/>
          <p:nvPr/>
        </p:nvSpPr>
        <p:spPr>
          <a:xfrm>
            <a:off x="365760" y="3602736"/>
            <a:ext cx="8412480" cy="621792"/>
          </a:xfrm>
          <a:prstGeom prst="rect">
            <a:avLst/>
          </a:prstGeom>
          <a:solidFill>
            <a:srgbClr val="FFFFFF"/>
          </a:solidFill>
          <a:ln w="6350">
            <a:solidFill>
              <a:srgbClr val="D8ECEF"/>
            </a:solidFill>
            <a:prstDash val="solid"/>
          </a:ln>
        </p:spPr>
        <p:txBody>
          <a:bodyPr/>
          <a:lstStyle/>
          <a:p>
            <a:endParaRPr lang="en-IN"/>
          </a:p>
        </p:txBody>
      </p:sp>
      <p:sp>
        <p:nvSpPr>
          <p:cNvPr id="21" name="Text 19"/>
          <p:cNvSpPr/>
          <p:nvPr/>
        </p:nvSpPr>
        <p:spPr>
          <a:xfrm>
            <a:off x="502920" y="3666744"/>
            <a:ext cx="2606040" cy="493776"/>
          </a:xfrm>
          <a:prstGeom prst="rect">
            <a:avLst/>
          </a:prstGeom>
          <a:noFill/>
          <a:ln/>
        </p:spPr>
        <p:txBody>
          <a:bodyPr wrap="square" rtlCol="0" anchor="ctr"/>
          <a:lstStyle/>
          <a:p>
            <a:pPr marL="0" indent="0">
              <a:buNone/>
            </a:pPr>
            <a:r>
              <a:rPr lang="en-US" sz="1050" dirty="0">
                <a:solidFill>
                  <a:srgbClr val="1A2E35"/>
                </a:solidFill>
                <a:latin typeface="Calibri" pitchFamily="34" charset="0"/>
                <a:ea typeface="Calibri" pitchFamily="34" charset="-122"/>
                <a:cs typeface="Calibri" pitchFamily="34" charset="-120"/>
              </a:rPr>
              <a:t>Root cause analysis</a:t>
            </a:r>
            <a:endParaRPr lang="en-US" sz="1050" dirty="0"/>
          </a:p>
        </p:txBody>
      </p:sp>
      <p:sp>
        <p:nvSpPr>
          <p:cNvPr id="22" name="Text 20"/>
          <p:cNvSpPr/>
          <p:nvPr/>
        </p:nvSpPr>
        <p:spPr>
          <a:xfrm>
            <a:off x="3246120" y="3666744"/>
            <a:ext cx="2514600" cy="493776"/>
          </a:xfrm>
          <a:prstGeom prst="rect">
            <a:avLst/>
          </a:prstGeom>
          <a:noFill/>
          <a:ln/>
        </p:spPr>
        <p:txBody>
          <a:bodyPr wrap="square" rtlCol="0" anchor="ctr"/>
          <a:lstStyle/>
          <a:p>
            <a:pPr marL="0" indent="0" algn="ctr">
              <a:buNone/>
            </a:pPr>
            <a:r>
              <a:rPr lang="en-US" sz="1100" b="1" dirty="0">
                <a:solidFill>
                  <a:srgbClr val="E05C2A"/>
                </a:solidFill>
                <a:latin typeface="Calibri" pitchFamily="34" charset="0"/>
                <a:ea typeface="Calibri" pitchFamily="34" charset="-122"/>
                <a:cs typeface="Calibri" pitchFamily="34" charset="-120"/>
              </a:rPr>
              <a:t>1–2 hours of debugging</a:t>
            </a:r>
            <a:endParaRPr lang="en-US" sz="1100" dirty="0"/>
          </a:p>
        </p:txBody>
      </p:sp>
      <p:sp>
        <p:nvSpPr>
          <p:cNvPr id="23" name="Text 21"/>
          <p:cNvSpPr/>
          <p:nvPr/>
        </p:nvSpPr>
        <p:spPr>
          <a:xfrm>
            <a:off x="5989320" y="3666744"/>
            <a:ext cx="2697480" cy="493776"/>
          </a:xfrm>
          <a:prstGeom prst="rect">
            <a:avLst/>
          </a:prstGeom>
          <a:noFill/>
          <a:ln/>
        </p:spPr>
        <p:txBody>
          <a:bodyPr wrap="square" rtlCol="0" anchor="ctr"/>
          <a:lstStyle/>
          <a:p>
            <a:pPr marL="0" indent="0" algn="ctr">
              <a:buNone/>
            </a:pPr>
            <a:r>
              <a:rPr lang="en-US" sz="1100" b="1" dirty="0">
                <a:solidFill>
                  <a:srgbClr val="2DB87A"/>
                </a:solidFill>
                <a:latin typeface="Calibri" pitchFamily="34" charset="0"/>
                <a:ea typeface="Calibri" pitchFamily="34" charset="-122"/>
                <a:cs typeface="Calibri" pitchFamily="34" charset="-120"/>
              </a:rPr>
              <a:t>Instant — Claude names the file and interface</a:t>
            </a:r>
            <a:endParaRPr lang="en-US" sz="1100" dirty="0"/>
          </a:p>
        </p:txBody>
      </p:sp>
      <p:sp>
        <p:nvSpPr>
          <p:cNvPr id="24" name="Shape 22"/>
          <p:cNvSpPr/>
          <p:nvPr/>
        </p:nvSpPr>
        <p:spPr>
          <a:xfrm>
            <a:off x="365760" y="4315968"/>
            <a:ext cx="8412480" cy="621792"/>
          </a:xfrm>
          <a:prstGeom prst="rect">
            <a:avLst/>
          </a:prstGeom>
          <a:solidFill>
            <a:srgbClr val="F0F7F8"/>
          </a:solidFill>
          <a:ln w="6350">
            <a:solidFill>
              <a:srgbClr val="D8ECEF"/>
            </a:solidFill>
            <a:prstDash val="solid"/>
          </a:ln>
        </p:spPr>
        <p:txBody>
          <a:bodyPr/>
          <a:lstStyle/>
          <a:p>
            <a:endParaRPr lang="en-IN"/>
          </a:p>
        </p:txBody>
      </p:sp>
      <p:sp>
        <p:nvSpPr>
          <p:cNvPr id="25" name="Text 23"/>
          <p:cNvSpPr/>
          <p:nvPr/>
        </p:nvSpPr>
        <p:spPr>
          <a:xfrm>
            <a:off x="502920" y="4379976"/>
            <a:ext cx="2606040" cy="493776"/>
          </a:xfrm>
          <a:prstGeom prst="rect">
            <a:avLst/>
          </a:prstGeom>
          <a:noFill/>
          <a:ln/>
        </p:spPr>
        <p:txBody>
          <a:bodyPr wrap="square" rtlCol="0" anchor="ctr"/>
          <a:lstStyle/>
          <a:p>
            <a:pPr marL="0" indent="0">
              <a:buNone/>
            </a:pPr>
            <a:r>
              <a:rPr lang="en-US" sz="1050" dirty="0">
                <a:solidFill>
                  <a:srgbClr val="1A2E35"/>
                </a:solidFill>
                <a:latin typeface="Calibri" pitchFamily="34" charset="0"/>
                <a:ea typeface="Calibri" pitchFamily="34" charset="-122"/>
                <a:cs typeface="Calibri" pitchFamily="34" charset="-120"/>
              </a:rPr>
              <a:t>QA effort per library release</a:t>
            </a:r>
            <a:endParaRPr lang="en-US" sz="1050" dirty="0"/>
          </a:p>
        </p:txBody>
      </p:sp>
      <p:sp>
        <p:nvSpPr>
          <p:cNvPr id="26" name="Text 24"/>
          <p:cNvSpPr/>
          <p:nvPr/>
        </p:nvSpPr>
        <p:spPr>
          <a:xfrm>
            <a:off x="3246120" y="4379976"/>
            <a:ext cx="2514600" cy="493776"/>
          </a:xfrm>
          <a:prstGeom prst="rect">
            <a:avLst/>
          </a:prstGeom>
          <a:noFill/>
          <a:ln/>
        </p:spPr>
        <p:txBody>
          <a:bodyPr wrap="square" rtlCol="0" anchor="ctr"/>
          <a:lstStyle/>
          <a:p>
            <a:pPr marL="0" indent="0" algn="ctr">
              <a:buNone/>
            </a:pPr>
            <a:r>
              <a:rPr lang="en-US" sz="1100" b="1" dirty="0">
                <a:solidFill>
                  <a:srgbClr val="E05C2A"/>
                </a:solidFill>
                <a:latin typeface="Calibri" pitchFamily="34" charset="0"/>
                <a:ea typeface="Calibri" pitchFamily="34" charset="-122"/>
                <a:cs typeface="Calibri" pitchFamily="34" charset="-120"/>
              </a:rPr>
              <a:t>Manual re-test every sprint</a:t>
            </a:r>
            <a:endParaRPr lang="en-US" sz="1100" dirty="0"/>
          </a:p>
        </p:txBody>
      </p:sp>
      <p:sp>
        <p:nvSpPr>
          <p:cNvPr id="27" name="Text 25"/>
          <p:cNvSpPr/>
          <p:nvPr/>
        </p:nvSpPr>
        <p:spPr>
          <a:xfrm>
            <a:off x="5989320" y="4379976"/>
            <a:ext cx="2697480" cy="493776"/>
          </a:xfrm>
          <a:prstGeom prst="rect">
            <a:avLst/>
          </a:prstGeom>
          <a:noFill/>
          <a:ln/>
        </p:spPr>
        <p:txBody>
          <a:bodyPr wrap="square" rtlCol="0" anchor="ctr"/>
          <a:lstStyle/>
          <a:p>
            <a:pPr marL="0" indent="0" algn="ctr">
              <a:buNone/>
            </a:pPr>
            <a:r>
              <a:rPr lang="en-US" sz="1100" b="1" dirty="0">
                <a:solidFill>
                  <a:srgbClr val="2DB87A"/>
                </a:solidFill>
                <a:latin typeface="Calibri" pitchFamily="34" charset="0"/>
                <a:ea typeface="Calibri" pitchFamily="34" charset="-122"/>
                <a:cs typeface="Calibri" pitchFamily="34" charset="-120"/>
              </a:rPr>
              <a:t>Automated — only affected apps re-run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lgn="l">
              <a:buNone/>
            </a:pPr>
            <a:r>
              <a:rPr lang="en-US" sz="3000" b="1" dirty="0">
                <a:solidFill>
                  <a:srgbClr val="1A2E35"/>
                </a:solidFill>
                <a:latin typeface="Calibri" pitchFamily="34" charset="0"/>
                <a:ea typeface="Calibri" pitchFamily="34" charset="-122"/>
                <a:cs typeface="Calibri" pitchFamily="34" charset="-120"/>
              </a:rPr>
              <a:t>This Is Running Right Now.</a:t>
            </a:r>
            <a:endParaRPr lang="en-US" sz="30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lgn="l">
              <a:buNone/>
            </a:pPr>
            <a:r>
              <a:rPr lang="en-US" sz="1300" dirty="0">
                <a:solidFill>
                  <a:srgbClr val="5A7A82"/>
                </a:solidFill>
                <a:latin typeface="Calibri" pitchFamily="34" charset="0"/>
                <a:ea typeface="Calibri" pitchFamily="34" charset="-122"/>
                <a:cs typeface="Calibri" pitchFamily="34" charset="-120"/>
              </a:rPr>
              <a:t>Live results from the Angular 15 playground — run during this hackathon</a:t>
            </a:r>
            <a:endParaRPr lang="en-US" sz="1300" dirty="0"/>
          </a:p>
        </p:txBody>
      </p:sp>
      <p:sp>
        <p:nvSpPr>
          <p:cNvPr id="4" name="Shape 2"/>
          <p:cNvSpPr/>
          <p:nvPr/>
        </p:nvSpPr>
        <p:spPr>
          <a:xfrm>
            <a:off x="457200" y="1005840"/>
            <a:ext cx="8229600" cy="27432"/>
          </a:xfrm>
          <a:prstGeom prst="rect">
            <a:avLst/>
          </a:prstGeom>
          <a:solidFill>
            <a:srgbClr val="028090"/>
          </a:solidFill>
          <a:ln w="12700">
            <a:solidFill>
              <a:srgbClr val="028090"/>
            </a:solidFill>
            <a:prstDash val="solid"/>
          </a:ln>
        </p:spPr>
        <p:txBody>
          <a:bodyPr/>
          <a:lstStyle/>
          <a:p>
            <a:endParaRPr lang="en-IN"/>
          </a:p>
        </p:txBody>
      </p:sp>
      <p:sp>
        <p:nvSpPr>
          <p:cNvPr id="5" name="Shape 3"/>
          <p:cNvSpPr/>
          <p:nvPr/>
        </p:nvSpPr>
        <p:spPr>
          <a:xfrm>
            <a:off x="411480" y="1188720"/>
            <a:ext cx="1874520" cy="1298448"/>
          </a:xfrm>
          <a:prstGeom prst="roundRect">
            <a:avLst>
              <a:gd name="adj" fmla="val 8451"/>
            </a:avLst>
          </a:prstGeom>
          <a:solidFill>
            <a:srgbClr val="FFFFFF"/>
          </a:solidFill>
          <a:ln w="19050">
            <a:solidFill>
              <a:srgbClr val="D8ECEF"/>
            </a:solidFill>
            <a:prstDash val="solid"/>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11480" y="1243584"/>
            <a:ext cx="1874520" cy="585216"/>
          </a:xfrm>
          <a:prstGeom prst="rect">
            <a:avLst/>
          </a:prstGeom>
          <a:noFill/>
          <a:ln/>
        </p:spPr>
        <p:txBody>
          <a:bodyPr wrap="square" lIns="0" tIns="0" rIns="0" bIns="0" rtlCol="0" anchor="ctr"/>
          <a:lstStyle/>
          <a:p>
            <a:pPr marL="0" indent="0" algn="ctr">
              <a:buNone/>
            </a:pPr>
            <a:r>
              <a:rPr lang="en-US" sz="3400" b="1" dirty="0">
                <a:solidFill>
                  <a:srgbClr val="028090"/>
                </a:solidFill>
                <a:latin typeface="Calibri" pitchFamily="34" charset="0"/>
                <a:ea typeface="Calibri" pitchFamily="34" charset="-122"/>
                <a:cs typeface="Calibri" pitchFamily="34" charset="-120"/>
              </a:rPr>
              <a:t>8</a:t>
            </a:r>
            <a:endParaRPr lang="en-US" sz="3400" dirty="0"/>
          </a:p>
        </p:txBody>
      </p:sp>
      <p:sp>
        <p:nvSpPr>
          <p:cNvPr id="7" name="Text 5"/>
          <p:cNvSpPr/>
          <p:nvPr/>
        </p:nvSpPr>
        <p:spPr>
          <a:xfrm>
            <a:off x="411480" y="1810512"/>
            <a:ext cx="1874520" cy="274320"/>
          </a:xfrm>
          <a:prstGeom prst="rect">
            <a:avLst/>
          </a:prstGeom>
          <a:noFill/>
          <a:ln/>
        </p:spPr>
        <p:txBody>
          <a:bodyPr wrap="square" lIns="0" tIns="0" rIns="0" bIns="0" rtlCol="0" anchor="ctr"/>
          <a:lstStyle/>
          <a:p>
            <a:pPr marL="0" indent="0" algn="ctr">
              <a:buNone/>
            </a:pPr>
            <a:r>
              <a:rPr lang="en-US" sz="1100" b="1" dirty="0">
                <a:solidFill>
                  <a:srgbClr val="1A2E35"/>
                </a:solidFill>
                <a:latin typeface="Calibri" pitchFamily="34" charset="0"/>
                <a:ea typeface="Calibri" pitchFamily="34" charset="-122"/>
                <a:cs typeface="Calibri" pitchFamily="34" charset="-120"/>
              </a:rPr>
              <a:t>Scenarios Validated</a:t>
            </a:r>
            <a:endParaRPr lang="en-US" sz="1100" dirty="0"/>
          </a:p>
        </p:txBody>
      </p:sp>
      <p:sp>
        <p:nvSpPr>
          <p:cNvPr id="8" name="Text 6"/>
          <p:cNvSpPr/>
          <p:nvPr/>
        </p:nvSpPr>
        <p:spPr>
          <a:xfrm>
            <a:off x="411480" y="2066544"/>
            <a:ext cx="1874520" cy="274320"/>
          </a:xfrm>
          <a:prstGeom prst="rect">
            <a:avLst/>
          </a:prstGeom>
          <a:noFill/>
          <a:ln/>
        </p:spPr>
        <p:txBody>
          <a:bodyPr wrap="square" lIns="0" tIns="0" rIns="0" bIns="0" rtlCol="0" anchor="ctr"/>
          <a:lstStyle/>
          <a:p>
            <a:pPr marL="0" indent="0" algn="ctr">
              <a:buNone/>
            </a:pPr>
            <a:r>
              <a:rPr lang="en-US" sz="900" dirty="0">
                <a:solidFill>
                  <a:srgbClr val="5A7A82"/>
                </a:solidFill>
                <a:latin typeface="Calibri" pitchFamily="34" charset="0"/>
                <a:ea typeface="Calibri" pitchFamily="34" charset="-122"/>
                <a:cs typeface="Calibri" pitchFamily="34" charset="-120"/>
              </a:rPr>
              <a:t>Across imported + local tests</a:t>
            </a:r>
            <a:endParaRPr lang="en-US" sz="900" dirty="0"/>
          </a:p>
        </p:txBody>
      </p:sp>
      <p:sp>
        <p:nvSpPr>
          <p:cNvPr id="9" name="Shape 7"/>
          <p:cNvSpPr/>
          <p:nvPr/>
        </p:nvSpPr>
        <p:spPr>
          <a:xfrm>
            <a:off x="2496312" y="1188720"/>
            <a:ext cx="1874520" cy="1298448"/>
          </a:xfrm>
          <a:prstGeom prst="roundRect">
            <a:avLst>
              <a:gd name="adj" fmla="val 8451"/>
            </a:avLst>
          </a:prstGeom>
          <a:solidFill>
            <a:srgbClr val="FFFFFF"/>
          </a:solidFill>
          <a:ln w="19050">
            <a:solidFill>
              <a:srgbClr val="D8ECEF"/>
            </a:solidFill>
            <a:prstDash val="solid"/>
          </a:ln>
          <a:effectLst>
            <a:outerShdw blurRad="101600" dist="38100" dir="2700000" algn="bl" rotWithShape="0">
              <a:srgbClr val="000000">
                <a:alpha val="12000"/>
              </a:srgbClr>
            </a:outerShdw>
          </a:effectLst>
        </p:spPr>
        <p:txBody>
          <a:bodyPr/>
          <a:lstStyle/>
          <a:p>
            <a:endParaRPr lang="en-IN"/>
          </a:p>
        </p:txBody>
      </p:sp>
      <p:sp>
        <p:nvSpPr>
          <p:cNvPr id="10" name="Text 8"/>
          <p:cNvSpPr/>
          <p:nvPr/>
        </p:nvSpPr>
        <p:spPr>
          <a:xfrm>
            <a:off x="2496312" y="1243584"/>
            <a:ext cx="1874520" cy="585216"/>
          </a:xfrm>
          <a:prstGeom prst="rect">
            <a:avLst/>
          </a:prstGeom>
          <a:noFill/>
          <a:ln/>
        </p:spPr>
        <p:txBody>
          <a:bodyPr wrap="square" lIns="0" tIns="0" rIns="0" bIns="0" rtlCol="0" anchor="ctr"/>
          <a:lstStyle/>
          <a:p>
            <a:pPr marL="0" indent="0" algn="ctr">
              <a:buNone/>
            </a:pPr>
            <a:r>
              <a:rPr lang="en-US" sz="3400" b="1" dirty="0">
                <a:solidFill>
                  <a:srgbClr val="2DB87A"/>
                </a:solidFill>
                <a:latin typeface="Calibri" pitchFamily="34" charset="0"/>
                <a:ea typeface="Calibri" pitchFamily="34" charset="-122"/>
                <a:cs typeface="Calibri" pitchFamily="34" charset="-120"/>
              </a:rPr>
              <a:t>5</a:t>
            </a:r>
            <a:endParaRPr lang="en-US" sz="3400" dirty="0"/>
          </a:p>
        </p:txBody>
      </p:sp>
      <p:sp>
        <p:nvSpPr>
          <p:cNvPr id="11" name="Text 9"/>
          <p:cNvSpPr/>
          <p:nvPr/>
        </p:nvSpPr>
        <p:spPr>
          <a:xfrm>
            <a:off x="2496312" y="1810512"/>
            <a:ext cx="1874520" cy="274320"/>
          </a:xfrm>
          <a:prstGeom prst="rect">
            <a:avLst/>
          </a:prstGeom>
          <a:noFill/>
          <a:ln/>
        </p:spPr>
        <p:txBody>
          <a:bodyPr wrap="square" lIns="0" tIns="0" rIns="0" bIns="0" rtlCol="0" anchor="ctr"/>
          <a:lstStyle/>
          <a:p>
            <a:pPr marL="0" indent="0" algn="ctr">
              <a:buNone/>
            </a:pPr>
            <a:r>
              <a:rPr lang="en-US" sz="1100" b="1" dirty="0">
                <a:solidFill>
                  <a:srgbClr val="1A2E35"/>
                </a:solidFill>
                <a:latin typeface="Calibri" pitchFamily="34" charset="0"/>
                <a:ea typeface="Calibri" pitchFamily="34" charset="-122"/>
                <a:cs typeface="Calibri" pitchFamily="34" charset="-120"/>
              </a:rPr>
              <a:t>Passed</a:t>
            </a:r>
            <a:endParaRPr lang="en-US" sz="1100" dirty="0"/>
          </a:p>
        </p:txBody>
      </p:sp>
      <p:sp>
        <p:nvSpPr>
          <p:cNvPr id="12" name="Text 10"/>
          <p:cNvSpPr/>
          <p:nvPr/>
        </p:nvSpPr>
        <p:spPr>
          <a:xfrm>
            <a:off x="2496312" y="2066544"/>
            <a:ext cx="1874520" cy="274320"/>
          </a:xfrm>
          <a:prstGeom prst="rect">
            <a:avLst/>
          </a:prstGeom>
          <a:noFill/>
          <a:ln/>
        </p:spPr>
        <p:txBody>
          <a:bodyPr wrap="square" lIns="0" tIns="0" rIns="0" bIns="0" rtlCol="0" anchor="ctr"/>
          <a:lstStyle/>
          <a:p>
            <a:pPr marL="0" indent="0" algn="ctr">
              <a:buNone/>
            </a:pPr>
            <a:r>
              <a:rPr lang="en-US" sz="900" dirty="0">
                <a:solidFill>
                  <a:srgbClr val="5A7A82"/>
                </a:solidFill>
                <a:latin typeface="Calibri" pitchFamily="34" charset="0"/>
                <a:ea typeface="Calibri" pitchFamily="34" charset="-122"/>
                <a:cs typeface="Calibri" pitchFamily="34" charset="-120"/>
              </a:rPr>
              <a:t>All consumer app scenarios</a:t>
            </a:r>
            <a:endParaRPr lang="en-US" sz="900" dirty="0"/>
          </a:p>
        </p:txBody>
      </p:sp>
      <p:sp>
        <p:nvSpPr>
          <p:cNvPr id="13" name="Shape 11"/>
          <p:cNvSpPr/>
          <p:nvPr/>
        </p:nvSpPr>
        <p:spPr>
          <a:xfrm>
            <a:off x="4581144" y="1188720"/>
            <a:ext cx="1874520" cy="1298448"/>
          </a:xfrm>
          <a:prstGeom prst="roundRect">
            <a:avLst>
              <a:gd name="adj" fmla="val 8451"/>
            </a:avLst>
          </a:prstGeom>
          <a:solidFill>
            <a:srgbClr val="FFFFFF"/>
          </a:solidFill>
          <a:ln w="19050">
            <a:solidFill>
              <a:srgbClr val="D8ECEF"/>
            </a:solidFill>
            <a:prstDash val="solid"/>
          </a:ln>
          <a:effectLst>
            <a:outerShdw blurRad="101600" dist="38100" dir="2700000" algn="bl" rotWithShape="0">
              <a:srgbClr val="000000">
                <a:alpha val="12000"/>
              </a:srgbClr>
            </a:outerShdw>
          </a:effectLst>
        </p:spPr>
        <p:txBody>
          <a:bodyPr/>
          <a:lstStyle/>
          <a:p>
            <a:endParaRPr lang="en-IN"/>
          </a:p>
        </p:txBody>
      </p:sp>
      <p:sp>
        <p:nvSpPr>
          <p:cNvPr id="14" name="Text 12"/>
          <p:cNvSpPr/>
          <p:nvPr/>
        </p:nvSpPr>
        <p:spPr>
          <a:xfrm>
            <a:off x="4581144" y="1243584"/>
            <a:ext cx="1874520" cy="585216"/>
          </a:xfrm>
          <a:prstGeom prst="rect">
            <a:avLst/>
          </a:prstGeom>
          <a:noFill/>
          <a:ln/>
        </p:spPr>
        <p:txBody>
          <a:bodyPr wrap="square" lIns="0" tIns="0" rIns="0" bIns="0" rtlCol="0" anchor="ctr"/>
          <a:lstStyle/>
          <a:p>
            <a:pPr marL="0" indent="0" algn="ctr">
              <a:buNone/>
            </a:pPr>
            <a:r>
              <a:rPr lang="en-US" sz="3400" b="1" dirty="0">
                <a:solidFill>
                  <a:srgbClr val="00A896"/>
                </a:solidFill>
                <a:latin typeface="Calibri" pitchFamily="34" charset="0"/>
                <a:ea typeface="Calibri" pitchFamily="34" charset="-122"/>
                <a:cs typeface="Calibri" pitchFamily="34" charset="-120"/>
              </a:rPr>
              <a:t>&lt; 2m</a:t>
            </a:r>
            <a:endParaRPr lang="en-US" sz="3400" dirty="0"/>
          </a:p>
        </p:txBody>
      </p:sp>
      <p:sp>
        <p:nvSpPr>
          <p:cNvPr id="15" name="Text 13"/>
          <p:cNvSpPr/>
          <p:nvPr/>
        </p:nvSpPr>
        <p:spPr>
          <a:xfrm>
            <a:off x="4581144" y="1810512"/>
            <a:ext cx="1874520" cy="274320"/>
          </a:xfrm>
          <a:prstGeom prst="rect">
            <a:avLst/>
          </a:prstGeom>
          <a:noFill/>
          <a:ln/>
        </p:spPr>
        <p:txBody>
          <a:bodyPr wrap="square" lIns="0" tIns="0" rIns="0" bIns="0" rtlCol="0" anchor="ctr"/>
          <a:lstStyle/>
          <a:p>
            <a:pPr marL="0" indent="0" algn="ctr">
              <a:buNone/>
            </a:pPr>
            <a:r>
              <a:rPr lang="en-US" sz="1100" b="1" dirty="0">
                <a:solidFill>
                  <a:srgbClr val="1A2E35"/>
                </a:solidFill>
                <a:latin typeface="Calibri" pitchFamily="34" charset="0"/>
                <a:ea typeface="Calibri" pitchFamily="34" charset="-122"/>
                <a:cs typeface="Calibri" pitchFamily="34" charset="-120"/>
              </a:rPr>
              <a:t>Total Run Time</a:t>
            </a:r>
            <a:endParaRPr lang="en-US" sz="1100" dirty="0"/>
          </a:p>
        </p:txBody>
      </p:sp>
      <p:sp>
        <p:nvSpPr>
          <p:cNvPr id="16" name="Text 14"/>
          <p:cNvSpPr/>
          <p:nvPr/>
        </p:nvSpPr>
        <p:spPr>
          <a:xfrm>
            <a:off x="4581144" y="2066544"/>
            <a:ext cx="1874520" cy="274320"/>
          </a:xfrm>
          <a:prstGeom prst="rect">
            <a:avLst/>
          </a:prstGeom>
          <a:noFill/>
          <a:ln/>
        </p:spPr>
        <p:txBody>
          <a:bodyPr wrap="square" lIns="0" tIns="0" rIns="0" bIns="0" rtlCol="0" anchor="ctr"/>
          <a:lstStyle/>
          <a:p>
            <a:pPr marL="0" indent="0" algn="ctr">
              <a:buNone/>
            </a:pPr>
            <a:r>
              <a:rPr lang="en-US" sz="900" dirty="0">
                <a:solidFill>
                  <a:srgbClr val="5A7A82"/>
                </a:solidFill>
                <a:latin typeface="Calibri" pitchFamily="34" charset="0"/>
                <a:ea typeface="Calibri" pitchFamily="34" charset="-122"/>
                <a:cs typeface="Calibri" pitchFamily="34" charset="-120"/>
              </a:rPr>
              <a:t>35 seconds wall-clock</a:t>
            </a:r>
            <a:endParaRPr lang="en-US" sz="900" dirty="0"/>
          </a:p>
        </p:txBody>
      </p:sp>
      <p:sp>
        <p:nvSpPr>
          <p:cNvPr id="17" name="Shape 15"/>
          <p:cNvSpPr/>
          <p:nvPr/>
        </p:nvSpPr>
        <p:spPr>
          <a:xfrm>
            <a:off x="6665976" y="1188720"/>
            <a:ext cx="1874520" cy="1298448"/>
          </a:xfrm>
          <a:prstGeom prst="roundRect">
            <a:avLst>
              <a:gd name="adj" fmla="val 8451"/>
            </a:avLst>
          </a:prstGeom>
          <a:solidFill>
            <a:srgbClr val="FFFFFF"/>
          </a:solidFill>
          <a:ln w="19050">
            <a:solidFill>
              <a:srgbClr val="D8ECEF"/>
            </a:solidFill>
            <a:prstDash val="solid"/>
          </a:ln>
          <a:effectLst>
            <a:outerShdw blurRad="101600" dist="38100" dir="2700000" algn="bl" rotWithShape="0">
              <a:srgbClr val="000000">
                <a:alpha val="12000"/>
              </a:srgbClr>
            </a:outerShdw>
          </a:effectLst>
        </p:spPr>
        <p:txBody>
          <a:bodyPr/>
          <a:lstStyle/>
          <a:p>
            <a:endParaRPr lang="en-IN"/>
          </a:p>
        </p:txBody>
      </p:sp>
      <p:sp>
        <p:nvSpPr>
          <p:cNvPr id="18" name="Text 16"/>
          <p:cNvSpPr/>
          <p:nvPr/>
        </p:nvSpPr>
        <p:spPr>
          <a:xfrm>
            <a:off x="6665976" y="1243584"/>
            <a:ext cx="1874520" cy="585216"/>
          </a:xfrm>
          <a:prstGeom prst="rect">
            <a:avLst/>
          </a:prstGeom>
          <a:noFill/>
          <a:ln/>
        </p:spPr>
        <p:txBody>
          <a:bodyPr wrap="square" lIns="0" tIns="0" rIns="0" bIns="0" rtlCol="0" anchor="ctr"/>
          <a:lstStyle/>
          <a:p>
            <a:pPr marL="0" indent="0" algn="ctr">
              <a:buNone/>
            </a:pPr>
            <a:r>
              <a:rPr lang="en-US" sz="3400" b="1" dirty="0">
                <a:solidFill>
                  <a:srgbClr val="02C39A"/>
                </a:solidFill>
                <a:latin typeface="Calibri" pitchFamily="34" charset="0"/>
                <a:ea typeface="Calibri" pitchFamily="34" charset="-122"/>
                <a:cs typeface="Calibri" pitchFamily="34" charset="-120"/>
              </a:rPr>
              <a:t>1</a:t>
            </a:r>
            <a:endParaRPr lang="en-US" sz="3400" dirty="0"/>
          </a:p>
        </p:txBody>
      </p:sp>
      <p:sp>
        <p:nvSpPr>
          <p:cNvPr id="19" name="Text 17"/>
          <p:cNvSpPr/>
          <p:nvPr/>
        </p:nvSpPr>
        <p:spPr>
          <a:xfrm>
            <a:off x="6665976" y="1810512"/>
            <a:ext cx="1874520" cy="274320"/>
          </a:xfrm>
          <a:prstGeom prst="rect">
            <a:avLst/>
          </a:prstGeom>
          <a:noFill/>
          <a:ln/>
        </p:spPr>
        <p:txBody>
          <a:bodyPr wrap="square" lIns="0" tIns="0" rIns="0" bIns="0" rtlCol="0" anchor="ctr"/>
          <a:lstStyle/>
          <a:p>
            <a:pPr marL="0" indent="0" algn="ctr">
              <a:buNone/>
            </a:pPr>
            <a:r>
              <a:rPr lang="en-US" sz="1100" b="1" dirty="0">
                <a:solidFill>
                  <a:srgbClr val="1A2E35"/>
                </a:solidFill>
                <a:latin typeface="Calibri" pitchFamily="34" charset="0"/>
                <a:ea typeface="Calibri" pitchFamily="34" charset="-122"/>
                <a:cs typeface="Calibri" pitchFamily="34" charset="-120"/>
              </a:rPr>
              <a:t>Command</a:t>
            </a:r>
            <a:endParaRPr lang="en-US" sz="1100" dirty="0"/>
          </a:p>
        </p:txBody>
      </p:sp>
      <p:sp>
        <p:nvSpPr>
          <p:cNvPr id="20" name="Text 18"/>
          <p:cNvSpPr/>
          <p:nvPr/>
        </p:nvSpPr>
        <p:spPr>
          <a:xfrm>
            <a:off x="6665976" y="2066544"/>
            <a:ext cx="1874520" cy="274320"/>
          </a:xfrm>
          <a:prstGeom prst="rect">
            <a:avLst/>
          </a:prstGeom>
          <a:noFill/>
          <a:ln/>
        </p:spPr>
        <p:txBody>
          <a:bodyPr wrap="square" lIns="0" tIns="0" rIns="0" bIns="0" rtlCol="0" anchor="ctr"/>
          <a:lstStyle/>
          <a:p>
            <a:pPr marL="0" indent="0" algn="ctr">
              <a:buNone/>
            </a:pPr>
            <a:r>
              <a:rPr lang="en-US" sz="900" dirty="0">
                <a:solidFill>
                  <a:srgbClr val="5A7A82"/>
                </a:solidFill>
                <a:latin typeface="Calibri" pitchFamily="34" charset="0"/>
                <a:ea typeface="Calibri" pitchFamily="34" charset="-122"/>
                <a:cs typeface="Calibri" pitchFamily="34" charset="-120"/>
              </a:rPr>
              <a:t>rv run  ·  no config needed</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2651760"/>
          <a:ext cx="8321040" cy="2331720"/>
        </p:xfrm>
        <a:graphic>
          <a:graphicData uri="http://schemas.openxmlformats.org/drawingml/2006/table">
            <a:tbl>
              <a:tblPr/>
              <a:tblGrid>
                <a:gridCol w="3840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7432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02809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02809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02809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Dropdown opens the options panel</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Library import</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1.7s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Selecting an option updates the display</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Library import</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1.9s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All options visible in panel</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Library import</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2.1s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Activating dropdown opens options panel</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Consumer app</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1.7s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Selecting an option updates displayed value</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Consumer app</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1.9s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All configured options shown in panel</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Consumer app</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2.1s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Panel shows configured number of options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Consumer app</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1.8s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Dropdown renders collapsed by default</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Consumer app</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b="1" dirty="0">
                          <a:solidFill>
                            <a:srgbClr val="2DB87A"/>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Calibri" pitchFamily="34" charset="0"/>
                          <a:ea typeface="Calibri" pitchFamily="34" charset="-122"/>
                          <a:cs typeface="Calibri" pitchFamily="34" charset="-120"/>
                        </a:rPr>
                        <a:t>1.8s</a:t>
                      </a:r>
                      <a:endParaRPr lang="en-US" sz="950" dirty="0">
                        <a:latin typeface="Calibri" charset="0"/>
                        <a:ea typeface="Calibri" charset="0"/>
                        <a:cs typeface="Calibri" charset="0"/>
                      </a:endParaRPr>
                    </a:p>
                  </a:txBody>
                  <a:tcPr anchor="ctr">
                    <a:lnL w="6350" cap="flat" cmpd="sng" algn="ctr">
                      <a:solidFill>
                        <a:srgbClr val="D8ECEF"/>
                      </a:solidFill>
                      <a:prstDash val="solid"/>
                      <a:round/>
                      <a:headEnd type="none" w="med" len="med"/>
                      <a:tailEnd type="none" w="med" len="med"/>
                    </a:lnL>
                    <a:lnR w="6350" cap="flat" cmpd="sng" algn="ctr">
                      <a:solidFill>
                        <a:srgbClr val="D8ECEF"/>
                      </a:solidFill>
                      <a:prstDash val="solid"/>
                      <a:round/>
                      <a:headEnd type="none" w="med" len="med"/>
                      <a:tailEnd type="none" w="med" len="med"/>
                    </a:lnR>
                    <a:lnT w="6350" cap="flat" cmpd="sng" algn="ctr">
                      <a:solidFill>
                        <a:srgbClr val="D8ECEF"/>
                      </a:solidFill>
                      <a:prstDash val="solid"/>
                      <a:round/>
                      <a:headEnd type="none" w="med" len="med"/>
                      <a:tailEnd type="none" w="med" len="med"/>
                    </a:lnT>
                    <a:lnB w="6350" cap="flat" cmpd="sng" algn="ctr">
                      <a:solidFill>
                        <a:srgbClr val="D8ECE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lgn="l">
              <a:buNone/>
            </a:pPr>
            <a:r>
              <a:rPr lang="en-US" sz="3000" b="1" dirty="0">
                <a:solidFill>
                  <a:srgbClr val="1A2E35"/>
                </a:solidFill>
                <a:latin typeface="Calibri" pitchFamily="34" charset="0"/>
                <a:ea typeface="Calibri" pitchFamily="34" charset="-122"/>
                <a:cs typeface="Calibri" pitchFamily="34" charset="-120"/>
              </a:rPr>
              <a:t>What This Means for the Business</a:t>
            </a:r>
            <a:endParaRPr lang="en-US" sz="3000" dirty="0"/>
          </a:p>
        </p:txBody>
      </p:sp>
      <p:sp>
        <p:nvSpPr>
          <p:cNvPr id="3" name="Shape 1"/>
          <p:cNvSpPr/>
          <p:nvPr/>
        </p:nvSpPr>
        <p:spPr>
          <a:xfrm>
            <a:off x="457200" y="804672"/>
            <a:ext cx="8229600" cy="27432"/>
          </a:xfrm>
          <a:prstGeom prst="rect">
            <a:avLst/>
          </a:prstGeom>
          <a:solidFill>
            <a:srgbClr val="028090"/>
          </a:solidFill>
          <a:ln w="12700">
            <a:solidFill>
              <a:srgbClr val="028090"/>
            </a:solidFill>
            <a:prstDash val="solid"/>
          </a:ln>
        </p:spPr>
        <p:txBody>
          <a:bodyPr/>
          <a:lstStyle/>
          <a:p>
            <a:endParaRPr lang="en-IN"/>
          </a:p>
        </p:txBody>
      </p:sp>
      <p:sp>
        <p:nvSpPr>
          <p:cNvPr id="4" name="Shape 2"/>
          <p:cNvSpPr/>
          <p:nvPr/>
        </p:nvSpPr>
        <p:spPr>
          <a:xfrm>
            <a:off x="365760" y="960120"/>
            <a:ext cx="2606040" cy="3794760"/>
          </a:xfrm>
          <a:prstGeom prst="roundRect">
            <a:avLst>
              <a:gd name="adj" fmla="val 4912"/>
            </a:avLst>
          </a:prstGeom>
          <a:solidFill>
            <a:srgbClr val="FFFFFF"/>
          </a:solidFill>
          <a:ln w="19050">
            <a:solidFill>
              <a:srgbClr val="D0E8EB"/>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365760" y="960120"/>
            <a:ext cx="2606040" cy="658368"/>
          </a:xfrm>
          <a:prstGeom prst="roundRect">
            <a:avLst>
              <a:gd name="adj" fmla="val 19444"/>
            </a:avLst>
          </a:prstGeom>
          <a:solidFill>
            <a:srgbClr val="028090"/>
          </a:solidFill>
          <a:ln w="12700">
            <a:solidFill>
              <a:srgbClr val="028090"/>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512064" y="1060704"/>
            <a:ext cx="457200" cy="457200"/>
          </a:xfrm>
          <a:prstGeom prst="rect">
            <a:avLst/>
          </a:prstGeom>
        </p:spPr>
      </p:pic>
      <p:sp>
        <p:nvSpPr>
          <p:cNvPr id="7" name="Text 4"/>
          <p:cNvSpPr/>
          <p:nvPr/>
        </p:nvSpPr>
        <p:spPr>
          <a:xfrm>
            <a:off x="1060704" y="1060704"/>
            <a:ext cx="17922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 Sales</a:t>
            </a:r>
            <a:endParaRPr lang="en-US" sz="1400" dirty="0"/>
          </a:p>
        </p:txBody>
      </p:sp>
      <p:sp>
        <p:nvSpPr>
          <p:cNvPr id="8" name="Text 5"/>
          <p:cNvSpPr/>
          <p:nvPr/>
        </p:nvSpPr>
        <p:spPr>
          <a:xfrm>
            <a:off x="548640" y="1764792"/>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Sell library upgrades with a regression guarantee — not a risk disclaimer</a:t>
            </a:r>
            <a:endParaRPr lang="en-US" sz="1050" dirty="0"/>
          </a:p>
        </p:txBody>
      </p:sp>
      <p:sp>
        <p:nvSpPr>
          <p:cNvPr id="9" name="Text 6"/>
          <p:cNvSpPr/>
          <p:nvPr/>
        </p:nvSpPr>
        <p:spPr>
          <a:xfrm>
            <a:off x="548640" y="2734056"/>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Faster release cycles without manual QA blocking every sprint</a:t>
            </a:r>
            <a:endParaRPr lang="en-US" sz="1050" dirty="0"/>
          </a:p>
        </p:txBody>
      </p:sp>
      <p:sp>
        <p:nvSpPr>
          <p:cNvPr id="10" name="Text 7"/>
          <p:cNvSpPr/>
          <p:nvPr/>
        </p:nvSpPr>
        <p:spPr>
          <a:xfrm>
            <a:off x="548640" y="3703320"/>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Demonstrable SLA on UI stability per release</a:t>
            </a:r>
            <a:endParaRPr lang="en-US" sz="1050" dirty="0"/>
          </a:p>
        </p:txBody>
      </p:sp>
      <p:sp>
        <p:nvSpPr>
          <p:cNvPr id="11" name="Shape 8"/>
          <p:cNvSpPr/>
          <p:nvPr/>
        </p:nvSpPr>
        <p:spPr>
          <a:xfrm>
            <a:off x="3200400" y="960120"/>
            <a:ext cx="2606040" cy="3794760"/>
          </a:xfrm>
          <a:prstGeom prst="roundRect">
            <a:avLst>
              <a:gd name="adj" fmla="val 4912"/>
            </a:avLst>
          </a:prstGeom>
          <a:solidFill>
            <a:srgbClr val="FFFFFF"/>
          </a:solidFill>
          <a:ln w="19050">
            <a:solidFill>
              <a:srgbClr val="D0E8EB"/>
            </a:solidFill>
            <a:prstDash val="solid"/>
          </a:ln>
          <a:effectLst>
            <a:outerShdw blurRad="101600" dist="38100" dir="2700000" algn="bl" rotWithShape="0">
              <a:srgbClr val="000000">
                <a:alpha val="12000"/>
              </a:srgbClr>
            </a:outerShdw>
          </a:effectLst>
        </p:spPr>
        <p:txBody>
          <a:bodyPr/>
          <a:lstStyle/>
          <a:p>
            <a:endParaRPr lang="en-IN"/>
          </a:p>
        </p:txBody>
      </p:sp>
      <p:sp>
        <p:nvSpPr>
          <p:cNvPr id="12" name="Shape 9"/>
          <p:cNvSpPr/>
          <p:nvPr/>
        </p:nvSpPr>
        <p:spPr>
          <a:xfrm>
            <a:off x="3200400" y="960120"/>
            <a:ext cx="2606040" cy="658368"/>
          </a:xfrm>
          <a:prstGeom prst="roundRect">
            <a:avLst>
              <a:gd name="adj" fmla="val 19444"/>
            </a:avLst>
          </a:prstGeom>
          <a:solidFill>
            <a:srgbClr val="028090"/>
          </a:solidFill>
          <a:ln w="12700">
            <a:solidFill>
              <a:srgbClr val="028090"/>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3346704" y="1060704"/>
            <a:ext cx="457200" cy="457200"/>
          </a:xfrm>
          <a:prstGeom prst="rect">
            <a:avLst/>
          </a:prstGeom>
        </p:spPr>
      </p:pic>
      <p:sp>
        <p:nvSpPr>
          <p:cNvPr id="14" name="Text 10"/>
          <p:cNvSpPr/>
          <p:nvPr/>
        </p:nvSpPr>
        <p:spPr>
          <a:xfrm>
            <a:off x="3895344" y="1060704"/>
            <a:ext cx="17922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 Operations</a:t>
            </a:r>
            <a:endParaRPr lang="en-US" sz="1400" dirty="0"/>
          </a:p>
        </p:txBody>
      </p:sp>
      <p:sp>
        <p:nvSpPr>
          <p:cNvPr id="15" name="Text 11"/>
          <p:cNvSpPr/>
          <p:nvPr/>
        </p:nvSpPr>
        <p:spPr>
          <a:xfrm>
            <a:off x="3383280" y="1764792"/>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One command validates all downstream apps — no manual coordination</a:t>
            </a:r>
            <a:endParaRPr lang="en-US" sz="1050" dirty="0"/>
          </a:p>
        </p:txBody>
      </p:sp>
      <p:sp>
        <p:nvSpPr>
          <p:cNvPr id="16" name="Text 12"/>
          <p:cNvSpPr/>
          <p:nvPr/>
        </p:nvSpPr>
        <p:spPr>
          <a:xfrm>
            <a:off x="3383280" y="2734056"/>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JSON reports feed directly into dashboards and ticketing systems</a:t>
            </a:r>
            <a:endParaRPr lang="en-US" sz="1050" dirty="0"/>
          </a:p>
        </p:txBody>
      </p:sp>
      <p:sp>
        <p:nvSpPr>
          <p:cNvPr id="17" name="Text 13"/>
          <p:cNvSpPr/>
          <p:nvPr/>
        </p:nvSpPr>
        <p:spPr>
          <a:xfrm>
            <a:off x="3383280" y="3703320"/>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Hotfix costs drop — issues caught upstream, not in production</a:t>
            </a:r>
            <a:endParaRPr lang="en-US" sz="1050" dirty="0"/>
          </a:p>
        </p:txBody>
      </p:sp>
      <p:sp>
        <p:nvSpPr>
          <p:cNvPr id="18" name="Shape 14"/>
          <p:cNvSpPr/>
          <p:nvPr/>
        </p:nvSpPr>
        <p:spPr>
          <a:xfrm>
            <a:off x="6035040" y="960120"/>
            <a:ext cx="2606040" cy="3794760"/>
          </a:xfrm>
          <a:prstGeom prst="roundRect">
            <a:avLst>
              <a:gd name="adj" fmla="val 4912"/>
            </a:avLst>
          </a:prstGeom>
          <a:solidFill>
            <a:srgbClr val="FFFFFF"/>
          </a:solidFill>
          <a:ln w="19050">
            <a:solidFill>
              <a:srgbClr val="D0E8EB"/>
            </a:solidFill>
            <a:prstDash val="solid"/>
          </a:ln>
          <a:effectLst>
            <a:outerShdw blurRad="101600" dist="38100" dir="2700000" algn="bl" rotWithShape="0">
              <a:srgbClr val="000000">
                <a:alpha val="12000"/>
              </a:srgbClr>
            </a:outerShdw>
          </a:effectLst>
        </p:spPr>
        <p:txBody>
          <a:bodyPr/>
          <a:lstStyle/>
          <a:p>
            <a:endParaRPr lang="en-IN"/>
          </a:p>
        </p:txBody>
      </p:sp>
      <p:sp>
        <p:nvSpPr>
          <p:cNvPr id="19" name="Shape 15"/>
          <p:cNvSpPr/>
          <p:nvPr/>
        </p:nvSpPr>
        <p:spPr>
          <a:xfrm>
            <a:off x="6035040" y="960120"/>
            <a:ext cx="2606040" cy="658368"/>
          </a:xfrm>
          <a:prstGeom prst="roundRect">
            <a:avLst>
              <a:gd name="adj" fmla="val 19444"/>
            </a:avLst>
          </a:prstGeom>
          <a:solidFill>
            <a:srgbClr val="028090"/>
          </a:solidFill>
          <a:ln w="12700">
            <a:solidFill>
              <a:srgbClr val="028090"/>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6181344" y="1060704"/>
            <a:ext cx="457200" cy="457200"/>
          </a:xfrm>
          <a:prstGeom prst="rect">
            <a:avLst/>
          </a:prstGeom>
        </p:spPr>
      </p:pic>
      <p:sp>
        <p:nvSpPr>
          <p:cNvPr id="21" name="Text 16"/>
          <p:cNvSpPr/>
          <p:nvPr/>
        </p:nvSpPr>
        <p:spPr>
          <a:xfrm>
            <a:off x="6729984" y="1060704"/>
            <a:ext cx="179222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 Engineering &amp; QA</a:t>
            </a:r>
            <a:endParaRPr lang="en-US" sz="1400" dirty="0"/>
          </a:p>
        </p:txBody>
      </p:sp>
      <p:sp>
        <p:nvSpPr>
          <p:cNvPr id="22" name="Text 17"/>
          <p:cNvSpPr/>
          <p:nvPr/>
        </p:nvSpPr>
        <p:spPr>
          <a:xfrm>
            <a:off x="6217920" y="1764792"/>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Write component tests once — every consuming app inherits them via YAML</a:t>
            </a:r>
            <a:endParaRPr lang="en-US" sz="1050" dirty="0"/>
          </a:p>
        </p:txBody>
      </p:sp>
      <p:sp>
        <p:nvSpPr>
          <p:cNvPr id="23" name="Text 18"/>
          <p:cNvSpPr/>
          <p:nvPr/>
        </p:nvSpPr>
        <p:spPr>
          <a:xfrm>
            <a:off x="6217920" y="2734056"/>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Zero test rewrites when components change — coverage is automatic</a:t>
            </a:r>
            <a:endParaRPr lang="en-US" sz="1050" dirty="0"/>
          </a:p>
        </p:txBody>
      </p:sp>
      <p:sp>
        <p:nvSpPr>
          <p:cNvPr id="24" name="Text 19"/>
          <p:cNvSpPr/>
          <p:nvPr/>
        </p:nvSpPr>
        <p:spPr>
          <a:xfrm>
            <a:off x="6217920" y="3703320"/>
            <a:ext cx="2286000" cy="868680"/>
          </a:xfrm>
          <a:prstGeom prst="rect">
            <a:avLst/>
          </a:prstGeom>
          <a:noFill/>
          <a:ln/>
        </p:spPr>
        <p:txBody>
          <a:bodyPr wrap="square" rtlCol="0" anchor="ctr"/>
          <a:lstStyle/>
          <a:p>
            <a:pPr marL="342900" indent="-342900">
              <a:buSzPct val="100000"/>
              <a:buChar char="•"/>
            </a:pPr>
            <a:r>
              <a:rPr lang="en-US" sz="1050" dirty="0">
                <a:solidFill>
                  <a:srgbClr val="1A2E35"/>
                </a:solidFill>
                <a:latin typeface="Calibri" pitchFamily="34" charset="0"/>
                <a:ea typeface="Calibri" pitchFamily="34" charset="-122"/>
                <a:cs typeface="Calibri" pitchFamily="34" charset="-120"/>
              </a:rPr>
              <a:t>Works with Angular, React, Vue — no framework lock-in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B33"/>
        </a:solidFill>
        <a:effectLst/>
      </p:bgPr>
    </p:bg>
    <p:spTree>
      <p:nvGrpSpPr>
        <p:cNvPr id="1" name=""/>
        <p:cNvGrpSpPr/>
        <p:nvPr/>
      </p:nvGrpSpPr>
      <p:grpSpPr>
        <a:xfrm>
          <a:off x="0" y="0"/>
          <a:ext cx="0" cy="0"/>
          <a:chOff x="0" y="0"/>
          <a:chExt cx="0" cy="0"/>
        </a:xfrm>
      </p:grpSpPr>
      <p:sp>
        <p:nvSpPr>
          <p:cNvPr id="2" name="Shape 0"/>
          <p:cNvSpPr/>
          <p:nvPr/>
        </p:nvSpPr>
        <p:spPr>
          <a:xfrm>
            <a:off x="7498080" y="3474720"/>
            <a:ext cx="2286000" cy="2286000"/>
          </a:xfrm>
          <a:prstGeom prst="ellipse">
            <a:avLst/>
          </a:prstGeom>
          <a:solidFill>
            <a:srgbClr val="028090">
              <a:alpha val="13000"/>
            </a:srgbClr>
          </a:solidFill>
          <a:ln w="12700">
            <a:solidFill>
              <a:srgbClr val="028090">
                <a:alpha val="13000"/>
              </a:srgbClr>
            </a:solidFill>
            <a:prstDash val="solid"/>
          </a:ln>
        </p:spPr>
        <p:txBody>
          <a:bodyPr/>
          <a:lstStyle/>
          <a:p>
            <a:endParaRPr lang="en-IN"/>
          </a:p>
        </p:txBody>
      </p:sp>
      <p:sp>
        <p:nvSpPr>
          <p:cNvPr id="3" name="Text 1"/>
          <p:cNvSpPr/>
          <p:nvPr/>
        </p:nvSpPr>
        <p:spPr>
          <a:xfrm>
            <a:off x="457200" y="228600"/>
            <a:ext cx="8229600" cy="566928"/>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What's Next</a:t>
            </a:r>
            <a:endParaRPr lang="en-US" sz="3600" dirty="0"/>
          </a:p>
        </p:txBody>
      </p:sp>
      <p:sp>
        <p:nvSpPr>
          <p:cNvPr id="4" name="Text 2"/>
          <p:cNvSpPr/>
          <p:nvPr/>
        </p:nvSpPr>
        <p:spPr>
          <a:xfrm>
            <a:off x="457200" y="786384"/>
            <a:ext cx="8229600" cy="292608"/>
          </a:xfrm>
          <a:prstGeom prst="rect">
            <a:avLst/>
          </a:prstGeom>
          <a:noFill/>
          <a:ln/>
        </p:spPr>
        <p:txBody>
          <a:bodyPr wrap="square" lIns="0" tIns="0" rIns="0" bIns="0" rtlCol="0" anchor="ctr"/>
          <a:lstStyle/>
          <a:p>
            <a:pPr marL="0" indent="0" algn="l">
              <a:buNone/>
            </a:pPr>
            <a:r>
              <a:rPr lang="en-US" sz="1400" dirty="0">
                <a:solidFill>
                  <a:srgbClr val="00A896"/>
                </a:solidFill>
                <a:latin typeface="Calibri" pitchFamily="34" charset="0"/>
                <a:ea typeface="Calibri" pitchFamily="34" charset="-122"/>
                <a:cs typeface="Calibri" pitchFamily="34" charset="-120"/>
              </a:rPr>
              <a:t>The foundation is working. Here's where it goes.</a:t>
            </a:r>
            <a:endParaRPr lang="en-US" sz="1400" dirty="0"/>
          </a:p>
        </p:txBody>
      </p:sp>
      <p:sp>
        <p:nvSpPr>
          <p:cNvPr id="5" name="Shape 3"/>
          <p:cNvSpPr/>
          <p:nvPr/>
        </p:nvSpPr>
        <p:spPr>
          <a:xfrm>
            <a:off x="365760" y="1170432"/>
            <a:ext cx="1920240" cy="3657600"/>
          </a:xfrm>
          <a:prstGeom prst="roundRect">
            <a:avLst>
              <a:gd name="adj" fmla="val 5714"/>
            </a:avLst>
          </a:prstGeom>
          <a:solidFill>
            <a:srgbClr val="FFFFFF">
              <a:alpha val="7000"/>
            </a:srgbClr>
          </a:solidFill>
          <a:ln w="19050">
            <a:solidFill>
              <a:srgbClr val="2DB87A">
                <a:alpha val="70000"/>
              </a:srgbClr>
            </a:solidFill>
            <a:prstDash val="solid"/>
          </a:ln>
        </p:spPr>
        <p:txBody>
          <a:bodyPr/>
          <a:lstStyle/>
          <a:p>
            <a:endParaRPr lang="en-IN"/>
          </a:p>
        </p:txBody>
      </p:sp>
      <p:sp>
        <p:nvSpPr>
          <p:cNvPr id="6" name="Shape 4"/>
          <p:cNvSpPr/>
          <p:nvPr/>
        </p:nvSpPr>
        <p:spPr>
          <a:xfrm>
            <a:off x="365760" y="1170432"/>
            <a:ext cx="1920240" cy="457200"/>
          </a:xfrm>
          <a:prstGeom prst="roundRect">
            <a:avLst>
              <a:gd name="adj" fmla="val 24000"/>
            </a:avLst>
          </a:prstGeom>
          <a:solidFill>
            <a:srgbClr val="2DB87A"/>
          </a:solidFill>
          <a:ln w="12700">
            <a:solidFill>
              <a:srgbClr val="2DB87A"/>
            </a:solidFill>
            <a:prstDash val="solid"/>
          </a:ln>
        </p:spPr>
        <p:txBody>
          <a:bodyPr/>
          <a:lstStyle/>
          <a:p>
            <a:endParaRPr lang="en-IN"/>
          </a:p>
        </p:txBody>
      </p:sp>
      <p:sp>
        <p:nvSpPr>
          <p:cNvPr id="7" name="Text 5"/>
          <p:cNvSpPr/>
          <p:nvPr/>
        </p:nvSpPr>
        <p:spPr>
          <a:xfrm>
            <a:off x="365760" y="1170432"/>
            <a:ext cx="19202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Done ✓</a:t>
            </a:r>
            <a:endParaRPr lang="en-US" sz="1150" dirty="0"/>
          </a:p>
        </p:txBody>
      </p:sp>
      <p:sp>
        <p:nvSpPr>
          <p:cNvPr id="8" name="Text 6"/>
          <p:cNvSpPr/>
          <p:nvPr/>
        </p:nvSpPr>
        <p:spPr>
          <a:xfrm>
            <a:off x="493776" y="170078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Core validation engine</a:t>
            </a:r>
            <a:endParaRPr lang="en-US" sz="950" dirty="0"/>
          </a:p>
        </p:txBody>
      </p:sp>
      <p:sp>
        <p:nvSpPr>
          <p:cNvPr id="9" name="Text 7"/>
          <p:cNvSpPr/>
          <p:nvPr/>
        </p:nvSpPr>
        <p:spPr>
          <a:xfrm>
            <a:off x="493776" y="234086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Playwright-powered execution</a:t>
            </a:r>
            <a:endParaRPr lang="en-US" sz="950" dirty="0"/>
          </a:p>
        </p:txBody>
      </p:sp>
      <p:sp>
        <p:nvSpPr>
          <p:cNvPr id="10" name="Text 8"/>
          <p:cNvSpPr/>
          <p:nvPr/>
        </p:nvSpPr>
        <p:spPr>
          <a:xfrm>
            <a:off x="493776" y="298094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Tag-driven test selection</a:t>
            </a:r>
            <a:endParaRPr lang="en-US" sz="950" dirty="0"/>
          </a:p>
        </p:txBody>
      </p:sp>
      <p:sp>
        <p:nvSpPr>
          <p:cNvPr id="11" name="Text 9"/>
          <p:cNvSpPr/>
          <p:nvPr/>
        </p:nvSpPr>
        <p:spPr>
          <a:xfrm>
            <a:off x="493776" y="362102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5-line YAML app onboarding</a:t>
            </a:r>
            <a:endParaRPr lang="en-US" sz="950" dirty="0"/>
          </a:p>
        </p:txBody>
      </p:sp>
      <p:sp>
        <p:nvSpPr>
          <p:cNvPr id="12" name="Text 10"/>
          <p:cNvSpPr/>
          <p:nvPr/>
        </p:nvSpPr>
        <p:spPr>
          <a:xfrm>
            <a:off x="493776" y="426110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Local registry integration</a:t>
            </a:r>
            <a:endParaRPr lang="en-US" sz="950" dirty="0"/>
          </a:p>
        </p:txBody>
      </p:sp>
      <p:sp>
        <p:nvSpPr>
          <p:cNvPr id="13" name="Shape 11"/>
          <p:cNvSpPr/>
          <p:nvPr/>
        </p:nvSpPr>
        <p:spPr>
          <a:xfrm>
            <a:off x="2487168" y="1170432"/>
            <a:ext cx="1920240" cy="3657600"/>
          </a:xfrm>
          <a:prstGeom prst="roundRect">
            <a:avLst>
              <a:gd name="adj" fmla="val 5714"/>
            </a:avLst>
          </a:prstGeom>
          <a:solidFill>
            <a:srgbClr val="FFFFFF">
              <a:alpha val="7000"/>
            </a:srgbClr>
          </a:solidFill>
          <a:ln w="19050">
            <a:solidFill>
              <a:srgbClr val="028090">
                <a:alpha val="70000"/>
              </a:srgbClr>
            </a:solidFill>
            <a:prstDash val="solid"/>
          </a:ln>
        </p:spPr>
        <p:txBody>
          <a:bodyPr/>
          <a:lstStyle/>
          <a:p>
            <a:endParaRPr lang="en-IN"/>
          </a:p>
        </p:txBody>
      </p:sp>
      <p:sp>
        <p:nvSpPr>
          <p:cNvPr id="14" name="Shape 12"/>
          <p:cNvSpPr/>
          <p:nvPr/>
        </p:nvSpPr>
        <p:spPr>
          <a:xfrm>
            <a:off x="2487168" y="1170432"/>
            <a:ext cx="1920240" cy="457200"/>
          </a:xfrm>
          <a:prstGeom prst="roundRect">
            <a:avLst>
              <a:gd name="adj" fmla="val 24000"/>
            </a:avLst>
          </a:prstGeom>
          <a:solidFill>
            <a:srgbClr val="028090"/>
          </a:solidFill>
          <a:ln w="12700">
            <a:solidFill>
              <a:srgbClr val="028090"/>
            </a:solidFill>
            <a:prstDash val="solid"/>
          </a:ln>
        </p:spPr>
        <p:txBody>
          <a:bodyPr/>
          <a:lstStyle/>
          <a:p>
            <a:endParaRPr lang="en-IN"/>
          </a:p>
        </p:txBody>
      </p:sp>
      <p:sp>
        <p:nvSpPr>
          <p:cNvPr id="15" name="Text 13"/>
          <p:cNvSpPr/>
          <p:nvPr/>
        </p:nvSpPr>
        <p:spPr>
          <a:xfrm>
            <a:off x="2487168" y="1170432"/>
            <a:ext cx="19202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Sprint 1</a:t>
            </a:r>
            <a:endParaRPr lang="en-US" sz="1150" dirty="0"/>
          </a:p>
        </p:txBody>
      </p:sp>
      <p:sp>
        <p:nvSpPr>
          <p:cNvPr id="16" name="Text 14"/>
          <p:cNvSpPr/>
          <p:nvPr/>
        </p:nvSpPr>
        <p:spPr>
          <a:xfrm>
            <a:off x="2615184" y="170078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Real-time results dashboard</a:t>
            </a:r>
            <a:endParaRPr lang="en-US" sz="950" dirty="0"/>
          </a:p>
        </p:txBody>
      </p:sp>
      <p:sp>
        <p:nvSpPr>
          <p:cNvPr id="17" name="Text 15"/>
          <p:cNvSpPr/>
          <p:nvPr/>
        </p:nvSpPr>
        <p:spPr>
          <a:xfrm>
            <a:off x="2615184" y="234086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Firefox + WebKit matrix</a:t>
            </a:r>
            <a:endParaRPr lang="en-US" sz="950" dirty="0"/>
          </a:p>
        </p:txBody>
      </p:sp>
      <p:sp>
        <p:nvSpPr>
          <p:cNvPr id="18" name="Text 16"/>
          <p:cNvSpPr/>
          <p:nvPr/>
        </p:nvSpPr>
        <p:spPr>
          <a:xfrm>
            <a:off x="2615184" y="298094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Per-app test overrides</a:t>
            </a:r>
            <a:endParaRPr lang="en-US" sz="950" dirty="0"/>
          </a:p>
        </p:txBody>
      </p:sp>
      <p:sp>
        <p:nvSpPr>
          <p:cNvPr id="19" name="Text 17"/>
          <p:cNvSpPr/>
          <p:nvPr/>
        </p:nvSpPr>
        <p:spPr>
          <a:xfrm>
            <a:off x="2615184" y="362102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Bundle diff + rollback view</a:t>
            </a:r>
            <a:endParaRPr lang="en-US" sz="950" dirty="0"/>
          </a:p>
        </p:txBody>
      </p:sp>
      <p:sp>
        <p:nvSpPr>
          <p:cNvPr id="20" name="Shape 18"/>
          <p:cNvSpPr/>
          <p:nvPr/>
        </p:nvSpPr>
        <p:spPr>
          <a:xfrm>
            <a:off x="4608576" y="1170432"/>
            <a:ext cx="1920240" cy="3657600"/>
          </a:xfrm>
          <a:prstGeom prst="roundRect">
            <a:avLst>
              <a:gd name="adj" fmla="val 5714"/>
            </a:avLst>
          </a:prstGeom>
          <a:solidFill>
            <a:srgbClr val="FFFFFF">
              <a:alpha val="7000"/>
            </a:srgbClr>
          </a:solidFill>
          <a:ln w="19050">
            <a:solidFill>
              <a:srgbClr val="00A896">
                <a:alpha val="70000"/>
              </a:srgbClr>
            </a:solidFill>
            <a:prstDash val="solid"/>
          </a:ln>
        </p:spPr>
        <p:txBody>
          <a:bodyPr/>
          <a:lstStyle/>
          <a:p>
            <a:endParaRPr lang="en-IN"/>
          </a:p>
        </p:txBody>
      </p:sp>
      <p:sp>
        <p:nvSpPr>
          <p:cNvPr id="21" name="Shape 19"/>
          <p:cNvSpPr/>
          <p:nvPr/>
        </p:nvSpPr>
        <p:spPr>
          <a:xfrm>
            <a:off x="4608576" y="1170432"/>
            <a:ext cx="1920240" cy="457200"/>
          </a:xfrm>
          <a:prstGeom prst="roundRect">
            <a:avLst>
              <a:gd name="adj" fmla="val 24000"/>
            </a:avLst>
          </a:prstGeom>
          <a:solidFill>
            <a:srgbClr val="00A896"/>
          </a:solidFill>
          <a:ln w="12700">
            <a:solidFill>
              <a:srgbClr val="00A896"/>
            </a:solidFill>
            <a:prstDash val="solid"/>
          </a:ln>
        </p:spPr>
        <p:txBody>
          <a:bodyPr/>
          <a:lstStyle/>
          <a:p>
            <a:endParaRPr lang="en-IN"/>
          </a:p>
        </p:txBody>
      </p:sp>
      <p:sp>
        <p:nvSpPr>
          <p:cNvPr id="22" name="Text 20"/>
          <p:cNvSpPr/>
          <p:nvPr/>
        </p:nvSpPr>
        <p:spPr>
          <a:xfrm>
            <a:off x="4608576" y="1170432"/>
            <a:ext cx="19202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Sprint 2</a:t>
            </a:r>
            <a:endParaRPr lang="en-US" sz="1150" dirty="0"/>
          </a:p>
        </p:txBody>
      </p:sp>
      <p:sp>
        <p:nvSpPr>
          <p:cNvPr id="23" name="Text 21"/>
          <p:cNvSpPr/>
          <p:nvPr/>
        </p:nvSpPr>
        <p:spPr>
          <a:xfrm>
            <a:off x="4736592" y="170078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React &amp; Vue support</a:t>
            </a:r>
            <a:endParaRPr lang="en-US" sz="950" dirty="0"/>
          </a:p>
        </p:txBody>
      </p:sp>
      <p:sp>
        <p:nvSpPr>
          <p:cNvPr id="24" name="Text 22"/>
          <p:cNvSpPr/>
          <p:nvPr/>
        </p:nvSpPr>
        <p:spPr>
          <a:xfrm>
            <a:off x="4736592" y="234086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API validation layer</a:t>
            </a:r>
            <a:endParaRPr lang="en-US" sz="950" dirty="0"/>
          </a:p>
        </p:txBody>
      </p:sp>
      <p:sp>
        <p:nvSpPr>
          <p:cNvPr id="25" name="Text 23"/>
          <p:cNvSpPr/>
          <p:nvPr/>
        </p:nvSpPr>
        <p:spPr>
          <a:xfrm>
            <a:off x="4736592" y="298094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Slack/Teams alerts on regression</a:t>
            </a:r>
            <a:endParaRPr lang="en-US" sz="950" dirty="0"/>
          </a:p>
        </p:txBody>
      </p:sp>
      <p:sp>
        <p:nvSpPr>
          <p:cNvPr id="26" name="Text 24"/>
          <p:cNvSpPr/>
          <p:nvPr/>
        </p:nvSpPr>
        <p:spPr>
          <a:xfrm>
            <a:off x="4736592" y="362102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Auto ticket on breaking change</a:t>
            </a:r>
            <a:endParaRPr lang="en-US" sz="950" dirty="0"/>
          </a:p>
        </p:txBody>
      </p:sp>
      <p:sp>
        <p:nvSpPr>
          <p:cNvPr id="27" name="Shape 25"/>
          <p:cNvSpPr/>
          <p:nvPr/>
        </p:nvSpPr>
        <p:spPr>
          <a:xfrm>
            <a:off x="6729984" y="1170432"/>
            <a:ext cx="1920240" cy="3657600"/>
          </a:xfrm>
          <a:prstGeom prst="roundRect">
            <a:avLst>
              <a:gd name="adj" fmla="val 5714"/>
            </a:avLst>
          </a:prstGeom>
          <a:solidFill>
            <a:srgbClr val="FFFFFF">
              <a:alpha val="7000"/>
            </a:srgbClr>
          </a:solidFill>
          <a:ln w="19050">
            <a:solidFill>
              <a:srgbClr val="02C39A">
                <a:alpha val="70000"/>
              </a:srgbClr>
            </a:solidFill>
            <a:prstDash val="solid"/>
          </a:ln>
        </p:spPr>
        <p:txBody>
          <a:bodyPr/>
          <a:lstStyle/>
          <a:p>
            <a:endParaRPr lang="en-IN"/>
          </a:p>
        </p:txBody>
      </p:sp>
      <p:sp>
        <p:nvSpPr>
          <p:cNvPr id="28" name="Shape 26"/>
          <p:cNvSpPr/>
          <p:nvPr/>
        </p:nvSpPr>
        <p:spPr>
          <a:xfrm>
            <a:off x="6729984" y="1170432"/>
            <a:ext cx="1920240" cy="457200"/>
          </a:xfrm>
          <a:prstGeom prst="roundRect">
            <a:avLst>
              <a:gd name="adj" fmla="val 24000"/>
            </a:avLst>
          </a:prstGeom>
          <a:solidFill>
            <a:srgbClr val="02C39A"/>
          </a:solidFill>
          <a:ln w="12700">
            <a:solidFill>
              <a:srgbClr val="02C39A"/>
            </a:solidFill>
            <a:prstDash val="solid"/>
          </a:ln>
        </p:spPr>
        <p:txBody>
          <a:bodyPr/>
          <a:lstStyle/>
          <a:p>
            <a:endParaRPr lang="en-IN"/>
          </a:p>
        </p:txBody>
      </p:sp>
      <p:sp>
        <p:nvSpPr>
          <p:cNvPr id="29" name="Text 27"/>
          <p:cNvSpPr/>
          <p:nvPr/>
        </p:nvSpPr>
        <p:spPr>
          <a:xfrm>
            <a:off x="6729984" y="1170432"/>
            <a:ext cx="19202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Scale</a:t>
            </a:r>
            <a:endParaRPr lang="en-US" sz="1150" dirty="0"/>
          </a:p>
        </p:txBody>
      </p:sp>
      <p:sp>
        <p:nvSpPr>
          <p:cNvPr id="30" name="Text 28"/>
          <p:cNvSpPr/>
          <p:nvPr/>
        </p:nvSpPr>
        <p:spPr>
          <a:xfrm>
            <a:off x="6858000" y="170078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Hosted SaaS offering</a:t>
            </a:r>
            <a:endParaRPr lang="en-US" sz="950" dirty="0"/>
          </a:p>
        </p:txBody>
      </p:sp>
      <p:sp>
        <p:nvSpPr>
          <p:cNvPr id="31" name="Text 29"/>
          <p:cNvSpPr/>
          <p:nvPr/>
        </p:nvSpPr>
        <p:spPr>
          <a:xfrm>
            <a:off x="6858000" y="234086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Company-wide component registry</a:t>
            </a:r>
            <a:endParaRPr lang="en-US" sz="950" dirty="0"/>
          </a:p>
        </p:txBody>
      </p:sp>
      <p:sp>
        <p:nvSpPr>
          <p:cNvPr id="32" name="Text 30"/>
          <p:cNvSpPr/>
          <p:nvPr/>
        </p:nvSpPr>
        <p:spPr>
          <a:xfrm>
            <a:off x="6858000" y="298094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Release trend analytics</a:t>
            </a:r>
            <a:endParaRPr lang="en-US" sz="950" dirty="0"/>
          </a:p>
        </p:txBody>
      </p:sp>
      <p:sp>
        <p:nvSpPr>
          <p:cNvPr id="33" name="Text 31"/>
          <p:cNvSpPr/>
          <p:nvPr/>
        </p:nvSpPr>
        <p:spPr>
          <a:xfrm>
            <a:off x="6858000" y="3621024"/>
            <a:ext cx="1700784" cy="585216"/>
          </a:xfrm>
          <a:prstGeom prst="rect">
            <a:avLst/>
          </a:prstGeom>
          <a:noFill/>
          <a:ln/>
        </p:spPr>
        <p:txBody>
          <a:bodyPr wrap="square" rtlCol="0" anchor="ctr"/>
          <a:lstStyle/>
          <a:p>
            <a:pPr marL="342900" indent="-342900">
              <a:buSzPct val="100000"/>
              <a:buChar char="•"/>
            </a:pPr>
            <a:r>
              <a:rPr lang="en-US" sz="950" dirty="0">
                <a:solidFill>
                  <a:srgbClr val="A8D8DF"/>
                </a:solidFill>
                <a:latin typeface="Calibri" pitchFamily="34" charset="0"/>
                <a:ea typeface="Calibri" pitchFamily="34" charset="-122"/>
                <a:cs typeface="Calibri" pitchFamily="34" charset="-120"/>
              </a:rPr>
              <a:t>Auto PR gates on upgrades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33"/>
        </a:solidFill>
        <a:effectLst/>
      </p:bgPr>
    </p:bg>
    <p:spTree>
      <p:nvGrpSpPr>
        <p:cNvPr id="1" name=""/>
        <p:cNvGrpSpPr/>
        <p:nvPr/>
      </p:nvGrpSpPr>
      <p:grpSpPr>
        <a:xfrm>
          <a:off x="0" y="0"/>
          <a:ext cx="0" cy="0"/>
          <a:chOff x="0" y="0"/>
          <a:chExt cx="0" cy="0"/>
        </a:xfrm>
      </p:grpSpPr>
      <p:sp>
        <p:nvSpPr>
          <p:cNvPr id="2" name="Shape 0"/>
          <p:cNvSpPr/>
          <p:nvPr/>
        </p:nvSpPr>
        <p:spPr>
          <a:xfrm>
            <a:off x="6858000" y="2743200"/>
            <a:ext cx="2926080" cy="2926080"/>
          </a:xfrm>
          <a:prstGeom prst="ellipse">
            <a:avLst/>
          </a:prstGeom>
          <a:solidFill>
            <a:srgbClr val="028090">
              <a:alpha val="16000"/>
            </a:srgbClr>
          </a:solidFill>
          <a:ln w="12700">
            <a:solidFill>
              <a:srgbClr val="028090">
                <a:alpha val="16000"/>
              </a:srgbClr>
            </a:solidFill>
            <a:prstDash val="solid"/>
          </a:ln>
        </p:spPr>
        <p:txBody>
          <a:bodyPr/>
          <a:lstStyle/>
          <a:p>
            <a:endParaRPr lang="en-IN"/>
          </a:p>
        </p:txBody>
      </p:sp>
      <p:sp>
        <p:nvSpPr>
          <p:cNvPr id="3" name="Text 1"/>
          <p:cNvSpPr/>
          <p:nvPr/>
        </p:nvSpPr>
        <p:spPr>
          <a:xfrm>
            <a:off x="457200" y="658368"/>
            <a:ext cx="8229600" cy="841248"/>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Ship with confidence.</a:t>
            </a:r>
            <a:endParaRPr lang="en-US" sz="5200" dirty="0"/>
          </a:p>
        </p:txBody>
      </p:sp>
      <p:sp>
        <p:nvSpPr>
          <p:cNvPr id="4" name="Text 2"/>
          <p:cNvSpPr/>
          <p:nvPr/>
        </p:nvSpPr>
        <p:spPr>
          <a:xfrm>
            <a:off x="457200" y="1508760"/>
            <a:ext cx="8229600" cy="457200"/>
          </a:xfrm>
          <a:prstGeom prst="rect">
            <a:avLst/>
          </a:prstGeom>
          <a:noFill/>
          <a:ln/>
        </p:spPr>
        <p:txBody>
          <a:bodyPr wrap="square" lIns="0" tIns="0" rIns="0" bIns="0" rtlCol="0" anchor="ctr"/>
          <a:lstStyle/>
          <a:p>
            <a:pPr marL="0" indent="0" algn="ctr">
              <a:buNone/>
            </a:pPr>
            <a:r>
              <a:rPr lang="en-US" sz="2000" dirty="0">
                <a:solidFill>
                  <a:srgbClr val="00A896"/>
                </a:solidFill>
                <a:latin typeface="Calibri" pitchFamily="34" charset="0"/>
                <a:ea typeface="Calibri" pitchFamily="34" charset="-122"/>
                <a:cs typeface="Calibri" pitchFamily="34" charset="-120"/>
              </a:rPr>
              <a:t>Every component. Every app. Every release.</a:t>
            </a:r>
            <a:endParaRPr lang="en-US" sz="2000" dirty="0"/>
          </a:p>
        </p:txBody>
      </p:sp>
      <p:sp>
        <p:nvSpPr>
          <p:cNvPr id="5" name="Shape 3"/>
          <p:cNvSpPr/>
          <p:nvPr/>
        </p:nvSpPr>
        <p:spPr>
          <a:xfrm>
            <a:off x="2971800" y="2084832"/>
            <a:ext cx="3200400" cy="36576"/>
          </a:xfrm>
          <a:prstGeom prst="rect">
            <a:avLst/>
          </a:prstGeom>
          <a:solidFill>
            <a:srgbClr val="02C39A"/>
          </a:solidFill>
          <a:ln w="12700">
            <a:solidFill>
              <a:srgbClr val="02C39A"/>
            </a:solidFill>
            <a:prstDash val="solid"/>
          </a:ln>
        </p:spPr>
        <p:txBody>
          <a:bodyPr/>
          <a:lstStyle/>
          <a:p>
            <a:endParaRPr lang="en-IN"/>
          </a:p>
        </p:txBody>
      </p:sp>
      <p:sp>
        <p:nvSpPr>
          <p:cNvPr id="6" name="Shape 4"/>
          <p:cNvSpPr/>
          <p:nvPr/>
        </p:nvSpPr>
        <p:spPr>
          <a:xfrm>
            <a:off x="1371600" y="2240280"/>
            <a:ext cx="6400800" cy="475488"/>
          </a:xfrm>
          <a:prstGeom prst="roundRect">
            <a:avLst>
              <a:gd name="adj" fmla="val 50000"/>
            </a:avLst>
          </a:prstGeom>
          <a:solidFill>
            <a:srgbClr val="028090">
              <a:alpha val="28000"/>
            </a:srgbClr>
          </a:solidFill>
          <a:ln w="12700">
            <a:solidFill>
              <a:srgbClr val="00A896">
                <a:alpha val="65000"/>
              </a:srgbClr>
            </a:solidFill>
            <a:prstDash val="solid"/>
          </a:ln>
        </p:spPr>
        <p:txBody>
          <a:bodyPr/>
          <a:lstStyle/>
          <a:p>
            <a:endParaRPr lang="en-IN"/>
          </a:p>
        </p:txBody>
      </p:sp>
      <p:sp>
        <p:nvSpPr>
          <p:cNvPr id="7" name="Text 5"/>
          <p:cNvSpPr/>
          <p:nvPr/>
        </p:nvSpPr>
        <p:spPr>
          <a:xfrm>
            <a:off x="1371600" y="2240280"/>
            <a:ext cx="6400800" cy="47548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2–4 hours of debugging → 2-minute automated report</a:t>
            </a:r>
            <a:endParaRPr lang="en-US" sz="1300" dirty="0"/>
          </a:p>
        </p:txBody>
      </p:sp>
      <p:sp>
        <p:nvSpPr>
          <p:cNvPr id="8" name="Shape 6"/>
          <p:cNvSpPr/>
          <p:nvPr/>
        </p:nvSpPr>
        <p:spPr>
          <a:xfrm>
            <a:off x="1371600" y="2834640"/>
            <a:ext cx="6400800" cy="475488"/>
          </a:xfrm>
          <a:prstGeom prst="roundRect">
            <a:avLst>
              <a:gd name="adj" fmla="val 50000"/>
            </a:avLst>
          </a:prstGeom>
          <a:solidFill>
            <a:srgbClr val="028090">
              <a:alpha val="28000"/>
            </a:srgbClr>
          </a:solidFill>
          <a:ln w="12700">
            <a:solidFill>
              <a:srgbClr val="00A896">
                <a:alpha val="65000"/>
              </a:srgbClr>
            </a:solidFill>
            <a:prstDash val="solid"/>
          </a:ln>
        </p:spPr>
        <p:txBody>
          <a:bodyPr/>
          <a:lstStyle/>
          <a:p>
            <a:endParaRPr lang="en-IN"/>
          </a:p>
        </p:txBody>
      </p:sp>
      <p:sp>
        <p:nvSpPr>
          <p:cNvPr id="9" name="Text 7"/>
          <p:cNvSpPr/>
          <p:nvPr/>
        </p:nvSpPr>
        <p:spPr>
          <a:xfrm>
            <a:off x="1371600" y="2834640"/>
            <a:ext cx="6400800" cy="47548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Write once, run in every consuming app</a:t>
            </a:r>
            <a:endParaRPr lang="en-US" sz="1300" dirty="0"/>
          </a:p>
        </p:txBody>
      </p:sp>
      <p:sp>
        <p:nvSpPr>
          <p:cNvPr id="10" name="Shape 8"/>
          <p:cNvSpPr/>
          <p:nvPr/>
        </p:nvSpPr>
        <p:spPr>
          <a:xfrm>
            <a:off x="1371600" y="3429000"/>
            <a:ext cx="6400800" cy="475488"/>
          </a:xfrm>
          <a:prstGeom prst="roundRect">
            <a:avLst>
              <a:gd name="adj" fmla="val 50000"/>
            </a:avLst>
          </a:prstGeom>
          <a:solidFill>
            <a:srgbClr val="028090">
              <a:alpha val="28000"/>
            </a:srgbClr>
          </a:solidFill>
          <a:ln w="12700">
            <a:solidFill>
              <a:srgbClr val="00A896">
                <a:alpha val="65000"/>
              </a:srgbClr>
            </a:solidFill>
            <a:prstDash val="solid"/>
          </a:ln>
        </p:spPr>
        <p:txBody>
          <a:bodyPr/>
          <a:lstStyle/>
          <a:p>
            <a:endParaRPr lang="en-IN"/>
          </a:p>
        </p:txBody>
      </p:sp>
      <p:sp>
        <p:nvSpPr>
          <p:cNvPr id="11" name="Text 9"/>
          <p:cNvSpPr/>
          <p:nvPr/>
        </p:nvSpPr>
        <p:spPr>
          <a:xfrm>
            <a:off x="1371600" y="3429000"/>
            <a:ext cx="6400800" cy="47548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Claude doesn't just detect failures — it explains them</a:t>
            </a:r>
            <a:endParaRPr lang="en-US" sz="1300" dirty="0"/>
          </a:p>
        </p:txBody>
      </p:sp>
      <p:sp>
        <p:nvSpPr>
          <p:cNvPr id="12" name="Shape 10"/>
          <p:cNvSpPr/>
          <p:nvPr/>
        </p:nvSpPr>
        <p:spPr>
          <a:xfrm>
            <a:off x="2286000" y="4279392"/>
            <a:ext cx="4572000" cy="36576"/>
          </a:xfrm>
          <a:prstGeom prst="rect">
            <a:avLst/>
          </a:prstGeom>
          <a:solidFill>
            <a:srgbClr val="02C39A"/>
          </a:solidFill>
          <a:ln w="12700">
            <a:solidFill>
              <a:srgbClr val="02C39A"/>
            </a:solidFill>
            <a:prstDash val="solid"/>
          </a:ln>
        </p:spPr>
        <p:txBody>
          <a:bodyPr/>
          <a:lstStyle/>
          <a:p>
            <a:endParaRPr lang="en-IN"/>
          </a:p>
        </p:txBody>
      </p:sp>
      <p:sp>
        <p:nvSpPr>
          <p:cNvPr id="13" name="Text 11"/>
          <p:cNvSpPr/>
          <p:nvPr/>
        </p:nvSpPr>
        <p:spPr>
          <a:xfrm>
            <a:off x="457200" y="4462272"/>
            <a:ext cx="8229600" cy="274320"/>
          </a:xfrm>
          <a:prstGeom prst="rect">
            <a:avLst/>
          </a:prstGeom>
          <a:noFill/>
          <a:ln/>
        </p:spPr>
        <p:txBody>
          <a:bodyPr wrap="square" lIns="0" tIns="0" rIns="0" bIns="0" rtlCol="0" anchor="ctr"/>
          <a:lstStyle/>
          <a:p>
            <a:pPr marL="0" indent="0" algn="ctr">
              <a:buNone/>
            </a:pPr>
            <a:r>
              <a:rPr lang="en-US" sz="1050" dirty="0">
                <a:solidFill>
                  <a:srgbClr val="8EC5CC"/>
                </a:solidFill>
                <a:latin typeface="Calibri" pitchFamily="34" charset="0"/>
                <a:ea typeface="Calibri" pitchFamily="34" charset="-122"/>
                <a:cs typeface="Calibri" pitchFamily="34" charset="-120"/>
              </a:rPr>
              <a:t>nitesh.ks@operative.com  ·  Team #17  ·  Core Controls Platform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1797</Words>
  <Application>Microsoft Office PowerPoint</Application>
  <PresentationFormat>On-screen Show (16:9)</PresentationFormat>
  <Paragraphs>179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RippleView — OpSpark 2026</dc:title>
  <dc:subject>PptxGenJS Presentation</dc:subject>
  <dc:creator>PptxGenJS</dc:creator>
  <cp:lastModifiedBy>Nitesh Kumar Sharma</cp:lastModifiedBy>
  <cp:revision>3</cp:revision>
  <dcterms:created xsi:type="dcterms:W3CDTF">2026-06-28T11:22:44Z</dcterms:created>
  <dcterms:modified xsi:type="dcterms:W3CDTF">2026-06-28T11:28:07Z</dcterms:modified>
</cp:coreProperties>
</file>